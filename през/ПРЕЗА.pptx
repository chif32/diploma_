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143750" y="0"/>
            <a:ext cx="4286250" cy="6438900"/>
          </a:xfrm>
          <a:custGeom>
            <a:avLst/>
            <a:gdLst/>
            <a:ahLst/>
            <a:cxnLst/>
            <a:rect l="l" t="t" r="r" b="b"/>
            <a:pathLst>
              <a:path w="4286250" h="6438900">
                <a:moveTo>
                  <a:pt x="428625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4286250" y="0"/>
                </a:lnTo>
                <a:lnTo>
                  <a:pt x="4286250" y="6438900"/>
                </a:lnTo>
                <a:close/>
              </a:path>
            </a:pathLst>
          </a:custGeom>
          <a:solidFill>
            <a:srgbClr val="11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04837" y="2433637"/>
            <a:ext cx="2876550" cy="2362200"/>
          </a:xfrm>
          <a:custGeom>
            <a:avLst/>
            <a:gdLst/>
            <a:ahLst/>
            <a:cxnLst/>
            <a:rect l="l" t="t" r="r" b="b"/>
            <a:pathLst>
              <a:path w="2876550" h="2362200">
                <a:moveTo>
                  <a:pt x="2824932" y="2362199"/>
                </a:moveTo>
                <a:lnTo>
                  <a:pt x="51617" y="2362199"/>
                </a:lnTo>
                <a:lnTo>
                  <a:pt x="48024" y="2361845"/>
                </a:lnTo>
                <a:lnTo>
                  <a:pt x="13615" y="2343453"/>
                </a:lnTo>
                <a:lnTo>
                  <a:pt x="0" y="2310582"/>
                </a:lnTo>
                <a:lnTo>
                  <a:pt x="0" y="2306954"/>
                </a:lnTo>
                <a:lnTo>
                  <a:pt x="0" y="51617"/>
                </a:lnTo>
                <a:lnTo>
                  <a:pt x="18745" y="13615"/>
                </a:lnTo>
                <a:lnTo>
                  <a:pt x="51617" y="0"/>
                </a:lnTo>
                <a:lnTo>
                  <a:pt x="2824932" y="0"/>
                </a:lnTo>
                <a:lnTo>
                  <a:pt x="2862933" y="18745"/>
                </a:lnTo>
                <a:lnTo>
                  <a:pt x="2876549" y="51617"/>
                </a:lnTo>
                <a:lnTo>
                  <a:pt x="2876549" y="2310582"/>
                </a:lnTo>
                <a:lnTo>
                  <a:pt x="2857803" y="2348583"/>
                </a:lnTo>
                <a:lnTo>
                  <a:pt x="2828524" y="2361845"/>
                </a:lnTo>
                <a:lnTo>
                  <a:pt x="2824932" y="2362199"/>
                </a:lnTo>
                <a:close/>
              </a:path>
            </a:pathLst>
          </a:custGeom>
          <a:solidFill>
            <a:srgbClr val="11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04837" y="2433637"/>
            <a:ext cx="2876550" cy="2362200"/>
          </a:xfrm>
          <a:custGeom>
            <a:avLst/>
            <a:gdLst/>
            <a:ahLst/>
            <a:cxnLst/>
            <a:rect l="l" t="t" r="r" b="b"/>
            <a:pathLst>
              <a:path w="2876550" h="2362200">
                <a:moveTo>
                  <a:pt x="0" y="2306954"/>
                </a:moveTo>
                <a:lnTo>
                  <a:pt x="0" y="55245"/>
                </a:lnTo>
                <a:lnTo>
                  <a:pt x="0" y="51617"/>
                </a:lnTo>
                <a:lnTo>
                  <a:pt x="353" y="48024"/>
                </a:lnTo>
                <a:lnTo>
                  <a:pt x="1061" y="44466"/>
                </a:lnTo>
                <a:lnTo>
                  <a:pt x="1769" y="40909"/>
                </a:lnTo>
                <a:lnTo>
                  <a:pt x="2817" y="37454"/>
                </a:lnTo>
                <a:lnTo>
                  <a:pt x="16180" y="16180"/>
                </a:lnTo>
                <a:lnTo>
                  <a:pt x="18745" y="13615"/>
                </a:lnTo>
                <a:lnTo>
                  <a:pt x="21536" y="11325"/>
                </a:lnTo>
                <a:lnTo>
                  <a:pt x="24552" y="9310"/>
                </a:lnTo>
                <a:lnTo>
                  <a:pt x="27568" y="7295"/>
                </a:lnTo>
                <a:lnTo>
                  <a:pt x="44467" y="1061"/>
                </a:lnTo>
                <a:lnTo>
                  <a:pt x="48024" y="353"/>
                </a:lnTo>
                <a:lnTo>
                  <a:pt x="51617" y="0"/>
                </a:lnTo>
                <a:lnTo>
                  <a:pt x="55245" y="0"/>
                </a:lnTo>
                <a:lnTo>
                  <a:pt x="2821305" y="0"/>
                </a:lnTo>
                <a:lnTo>
                  <a:pt x="2824932" y="0"/>
                </a:lnTo>
                <a:lnTo>
                  <a:pt x="2828524" y="353"/>
                </a:lnTo>
                <a:lnTo>
                  <a:pt x="2832082" y="1061"/>
                </a:lnTo>
                <a:lnTo>
                  <a:pt x="2835640" y="1769"/>
                </a:lnTo>
                <a:lnTo>
                  <a:pt x="2860368" y="16180"/>
                </a:lnTo>
                <a:lnTo>
                  <a:pt x="2862933" y="18745"/>
                </a:lnTo>
                <a:lnTo>
                  <a:pt x="2876550" y="55245"/>
                </a:lnTo>
                <a:lnTo>
                  <a:pt x="2876550" y="2306954"/>
                </a:lnTo>
                <a:lnTo>
                  <a:pt x="2862933" y="2343453"/>
                </a:lnTo>
                <a:lnTo>
                  <a:pt x="2828524" y="2361845"/>
                </a:lnTo>
                <a:lnTo>
                  <a:pt x="2821305" y="2362200"/>
                </a:lnTo>
                <a:lnTo>
                  <a:pt x="55245" y="2362200"/>
                </a:lnTo>
                <a:lnTo>
                  <a:pt x="18745" y="2348583"/>
                </a:lnTo>
                <a:lnTo>
                  <a:pt x="1061" y="2317732"/>
                </a:lnTo>
                <a:lnTo>
                  <a:pt x="353" y="2314174"/>
                </a:lnTo>
                <a:lnTo>
                  <a:pt x="0" y="2310582"/>
                </a:lnTo>
                <a:lnTo>
                  <a:pt x="0" y="2306954"/>
                </a:lnTo>
                <a:close/>
              </a:path>
            </a:pathLst>
          </a:custGeom>
          <a:ln w="9525">
            <a:solidFill>
              <a:srgbClr val="2918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662362" y="2433637"/>
            <a:ext cx="2876550" cy="2362200"/>
          </a:xfrm>
          <a:custGeom>
            <a:avLst/>
            <a:gdLst/>
            <a:ahLst/>
            <a:cxnLst/>
            <a:rect l="l" t="t" r="r" b="b"/>
            <a:pathLst>
              <a:path w="2876550" h="2362200">
                <a:moveTo>
                  <a:pt x="2824932" y="2362199"/>
                </a:moveTo>
                <a:lnTo>
                  <a:pt x="51617" y="2362199"/>
                </a:lnTo>
                <a:lnTo>
                  <a:pt x="48024" y="2361845"/>
                </a:lnTo>
                <a:lnTo>
                  <a:pt x="13615" y="2343453"/>
                </a:lnTo>
                <a:lnTo>
                  <a:pt x="0" y="2310582"/>
                </a:lnTo>
                <a:lnTo>
                  <a:pt x="0" y="2306954"/>
                </a:lnTo>
                <a:lnTo>
                  <a:pt x="0" y="51617"/>
                </a:lnTo>
                <a:lnTo>
                  <a:pt x="18745" y="13615"/>
                </a:lnTo>
                <a:lnTo>
                  <a:pt x="51617" y="0"/>
                </a:lnTo>
                <a:lnTo>
                  <a:pt x="2824932" y="0"/>
                </a:lnTo>
                <a:lnTo>
                  <a:pt x="2862934" y="18745"/>
                </a:lnTo>
                <a:lnTo>
                  <a:pt x="2876550" y="51617"/>
                </a:lnTo>
                <a:lnTo>
                  <a:pt x="2876550" y="2310582"/>
                </a:lnTo>
                <a:lnTo>
                  <a:pt x="2857803" y="2348583"/>
                </a:lnTo>
                <a:lnTo>
                  <a:pt x="2828524" y="2361845"/>
                </a:lnTo>
                <a:lnTo>
                  <a:pt x="2824932" y="2362199"/>
                </a:lnTo>
                <a:close/>
              </a:path>
            </a:pathLst>
          </a:custGeom>
          <a:solidFill>
            <a:srgbClr val="11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62362" y="2433637"/>
            <a:ext cx="2876550" cy="2362200"/>
          </a:xfrm>
          <a:custGeom>
            <a:avLst/>
            <a:gdLst/>
            <a:ahLst/>
            <a:cxnLst/>
            <a:rect l="l" t="t" r="r" b="b"/>
            <a:pathLst>
              <a:path w="2876550" h="2362200">
                <a:moveTo>
                  <a:pt x="0" y="2306954"/>
                </a:moveTo>
                <a:lnTo>
                  <a:pt x="0" y="55245"/>
                </a:lnTo>
                <a:lnTo>
                  <a:pt x="0" y="51617"/>
                </a:lnTo>
                <a:lnTo>
                  <a:pt x="353" y="48024"/>
                </a:lnTo>
                <a:lnTo>
                  <a:pt x="1061" y="44466"/>
                </a:lnTo>
                <a:lnTo>
                  <a:pt x="1768" y="40909"/>
                </a:lnTo>
                <a:lnTo>
                  <a:pt x="2816" y="37454"/>
                </a:lnTo>
                <a:lnTo>
                  <a:pt x="16180" y="16180"/>
                </a:lnTo>
                <a:lnTo>
                  <a:pt x="18745" y="13615"/>
                </a:lnTo>
                <a:lnTo>
                  <a:pt x="44466" y="1061"/>
                </a:lnTo>
                <a:lnTo>
                  <a:pt x="48024" y="353"/>
                </a:lnTo>
                <a:lnTo>
                  <a:pt x="51617" y="0"/>
                </a:lnTo>
                <a:lnTo>
                  <a:pt x="55245" y="0"/>
                </a:lnTo>
                <a:lnTo>
                  <a:pt x="2821305" y="0"/>
                </a:lnTo>
                <a:lnTo>
                  <a:pt x="2824932" y="0"/>
                </a:lnTo>
                <a:lnTo>
                  <a:pt x="2828524" y="353"/>
                </a:lnTo>
                <a:lnTo>
                  <a:pt x="2832082" y="1061"/>
                </a:lnTo>
                <a:lnTo>
                  <a:pt x="2835639" y="1769"/>
                </a:lnTo>
                <a:lnTo>
                  <a:pt x="2860368" y="16180"/>
                </a:lnTo>
                <a:lnTo>
                  <a:pt x="2862934" y="18745"/>
                </a:lnTo>
                <a:lnTo>
                  <a:pt x="2865223" y="21536"/>
                </a:lnTo>
                <a:lnTo>
                  <a:pt x="2867239" y="24552"/>
                </a:lnTo>
                <a:lnTo>
                  <a:pt x="2869254" y="27568"/>
                </a:lnTo>
                <a:lnTo>
                  <a:pt x="2876550" y="51617"/>
                </a:lnTo>
                <a:lnTo>
                  <a:pt x="2876550" y="55245"/>
                </a:lnTo>
                <a:lnTo>
                  <a:pt x="2876550" y="2306954"/>
                </a:lnTo>
                <a:lnTo>
                  <a:pt x="2876550" y="2310582"/>
                </a:lnTo>
                <a:lnTo>
                  <a:pt x="2876195" y="2314174"/>
                </a:lnTo>
                <a:lnTo>
                  <a:pt x="2857803" y="2348583"/>
                </a:lnTo>
                <a:lnTo>
                  <a:pt x="2821305" y="2362200"/>
                </a:lnTo>
                <a:lnTo>
                  <a:pt x="55245" y="2362200"/>
                </a:lnTo>
                <a:lnTo>
                  <a:pt x="18745" y="2348583"/>
                </a:lnTo>
                <a:lnTo>
                  <a:pt x="16180" y="2346018"/>
                </a:lnTo>
                <a:lnTo>
                  <a:pt x="13615" y="2343453"/>
                </a:lnTo>
                <a:lnTo>
                  <a:pt x="1061" y="2317732"/>
                </a:lnTo>
                <a:lnTo>
                  <a:pt x="353" y="2314174"/>
                </a:lnTo>
                <a:lnTo>
                  <a:pt x="0" y="2310582"/>
                </a:lnTo>
                <a:lnTo>
                  <a:pt x="0" y="2306954"/>
                </a:lnTo>
                <a:close/>
              </a:path>
            </a:pathLst>
          </a:custGeom>
          <a:ln w="9525">
            <a:solidFill>
              <a:srgbClr val="29189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9475" y="133350"/>
            <a:ext cx="4114800" cy="6172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977900"/>
            <a:ext cx="4571365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3625" y="1720850"/>
            <a:ext cx="5930265" cy="1606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430000" cy="6438900"/>
            <a:chOff x="0" y="0"/>
            <a:chExt cx="11430000" cy="6438900"/>
          </a:xfrm>
        </p:grpSpPr>
        <p:sp>
          <p:nvSpPr>
            <p:cNvPr id="3" name="object 3"/>
            <p:cNvSpPr/>
            <p:nvPr/>
          </p:nvSpPr>
          <p:spPr>
            <a:xfrm>
              <a:off x="4286250" y="0"/>
              <a:ext cx="7143750" cy="6438900"/>
            </a:xfrm>
            <a:custGeom>
              <a:avLst/>
              <a:gdLst/>
              <a:ahLst/>
              <a:cxnLst/>
              <a:rect l="l" t="t" r="r" b="b"/>
              <a:pathLst>
                <a:path w="7143750" h="6438900">
                  <a:moveTo>
                    <a:pt x="0" y="6438900"/>
                  </a:moveTo>
                  <a:lnTo>
                    <a:pt x="7143750" y="643890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26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286250" cy="6438900"/>
            </a:xfrm>
            <a:custGeom>
              <a:avLst/>
              <a:gdLst/>
              <a:ahLst/>
              <a:cxnLst/>
              <a:rect l="l" t="t" r="r" b="b"/>
              <a:pathLst>
                <a:path w="4286250" h="6438900">
                  <a:moveTo>
                    <a:pt x="4286250" y="6438900"/>
                  </a:moveTo>
                  <a:lnTo>
                    <a:pt x="0" y="6438900"/>
                  </a:lnTo>
                  <a:lnTo>
                    <a:pt x="0" y="0"/>
                  </a:lnTo>
                  <a:lnTo>
                    <a:pt x="4286250" y="0"/>
                  </a:lnTo>
                  <a:lnTo>
                    <a:pt x="4286250" y="6438900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25" y="133349"/>
              <a:ext cx="4114800" cy="617220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14"/>
              <a:t>ChifBoard</a:t>
            </a:r>
            <a:r>
              <a:rPr dirty="0" spc="-310"/>
              <a:t> </a:t>
            </a:r>
            <a:r>
              <a:rPr dirty="0" spc="254"/>
              <a:t>—</a:t>
            </a:r>
          </a:p>
          <a:p>
            <a:pPr marL="12700" marR="5080">
              <a:lnSpc>
                <a:spcPct val="104500"/>
              </a:lnSpc>
            </a:pPr>
            <a:r>
              <a:rPr dirty="0" spc="-130"/>
              <a:t>веб-</a:t>
            </a:r>
            <a:r>
              <a:rPr dirty="0" spc="-170"/>
              <a:t>приложение</a:t>
            </a:r>
            <a:r>
              <a:rPr dirty="0" spc="-325"/>
              <a:t> </a:t>
            </a:r>
            <a:r>
              <a:rPr dirty="0" spc="-140"/>
              <a:t>для</a:t>
            </a:r>
            <a:r>
              <a:rPr dirty="0" spc="-320"/>
              <a:t> </a:t>
            </a:r>
            <a:r>
              <a:rPr dirty="0" spc="-75"/>
              <a:t>поиска </a:t>
            </a:r>
            <a:r>
              <a:rPr dirty="0" spc="-10"/>
              <a:t>вакансий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73625" y="3536315"/>
            <a:ext cx="5791835" cy="113030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Дипломный</a:t>
            </a:r>
            <a:r>
              <a:rPr dirty="0" sz="1350" spc="1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проект,</a:t>
            </a:r>
            <a:r>
              <a:rPr dirty="0" sz="1350" spc="17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демонстрирующий</a:t>
            </a:r>
            <a:r>
              <a:rPr dirty="0" sz="1350" spc="1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полный</a:t>
            </a:r>
            <a:r>
              <a:rPr dirty="0" sz="1350" spc="17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E4E0DE"/>
                </a:solidFill>
                <a:latin typeface="Tahoma"/>
                <a:cs typeface="Tahoma"/>
              </a:rPr>
              <a:t>цикл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</a:pP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fullstack-разработки:</a:t>
            </a:r>
            <a:r>
              <a:rPr dirty="0" sz="1350" spc="5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проектирование</a:t>
            </a:r>
            <a:r>
              <a:rPr dirty="0" sz="1350" spc="5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E4E0DE"/>
                </a:solidFill>
                <a:latin typeface="Tahoma"/>
                <a:cs typeface="Tahoma"/>
              </a:rPr>
              <a:t>БД,</a:t>
            </a:r>
            <a:r>
              <a:rPr dirty="0" sz="1350" spc="5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REST</a:t>
            </a:r>
            <a:r>
              <a:rPr dirty="0" sz="1350" spc="5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API</a:t>
            </a:r>
            <a:r>
              <a:rPr dirty="0" sz="1350" spc="6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на</a:t>
            </a:r>
            <a:r>
              <a:rPr dirty="0" sz="1350" spc="5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Node.js</a:t>
            </a:r>
            <a:r>
              <a:rPr dirty="0" sz="1350" spc="5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E4E0DE"/>
                </a:solidFill>
                <a:latin typeface="Tahoma"/>
                <a:cs typeface="Tahoma"/>
              </a:rPr>
              <a:t>и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клиентский</a:t>
            </a:r>
            <a:r>
              <a:rPr dirty="0" sz="1350" spc="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интерфейс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на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E4E0DE"/>
                </a:solidFill>
                <a:latin typeface="Tahoma"/>
                <a:cs typeface="Tahoma"/>
              </a:rPr>
              <a:t>HTML/CSS/JS.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Ориентирован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на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E4E0DE"/>
                </a:solidFill>
                <a:latin typeface="Tahoma"/>
                <a:cs typeface="Tahoma"/>
              </a:rPr>
              <a:t>российский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рынок</a:t>
            </a:r>
            <a:r>
              <a:rPr dirty="0" sz="1350" spc="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труда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(зарплаты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в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рублях,</a:t>
            </a:r>
            <a:r>
              <a:rPr dirty="0" sz="1350" spc="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города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E4E0DE"/>
                </a:solidFill>
                <a:latin typeface="Tahoma"/>
                <a:cs typeface="Tahoma"/>
              </a:rPr>
              <a:t>РФ).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5" y="1616075"/>
            <a:ext cx="51873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10"/>
              <a:t>Цель</a:t>
            </a:r>
            <a:r>
              <a:rPr dirty="0" spc="-355"/>
              <a:t> </a:t>
            </a:r>
            <a:r>
              <a:rPr dirty="0" spc="-95"/>
              <a:t>и</a:t>
            </a:r>
            <a:r>
              <a:rPr dirty="0" spc="-355"/>
              <a:t> </a:t>
            </a:r>
            <a:r>
              <a:rPr dirty="0" spc="-185"/>
              <a:t>ключевые</a:t>
            </a:r>
            <a:r>
              <a:rPr dirty="0" spc="-355"/>
              <a:t> </a:t>
            </a:r>
            <a:r>
              <a:rPr dirty="0" spc="-85"/>
              <a:t>задачи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350" y="2592387"/>
            <a:ext cx="2148205" cy="1722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E4E0DE"/>
                </a:solidFill>
                <a:latin typeface="Tahoma"/>
                <a:cs typeface="Tahoma"/>
              </a:rPr>
              <a:t>Цель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560"/>
              </a:spcBef>
            </a:pP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Разработать</a:t>
            </a:r>
            <a:r>
              <a:rPr dirty="0" sz="1350" spc="19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работающее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веб-приложение</a:t>
            </a:r>
            <a:r>
              <a:rPr dirty="0" sz="1350" spc="1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поиска</a:t>
            </a:r>
            <a:r>
              <a:rPr dirty="0" sz="1350" spc="1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E4E0DE"/>
                </a:solidFill>
                <a:latin typeface="Tahoma"/>
                <a:cs typeface="Tahoma"/>
              </a:rPr>
              <a:t>и 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управления</a:t>
            </a:r>
            <a:r>
              <a:rPr dirty="0" sz="1350" spc="8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вакансиями</a:t>
            </a:r>
            <a:r>
              <a:rPr dirty="0" sz="1350" spc="90">
                <a:solidFill>
                  <a:srgbClr val="E4E0DE"/>
                </a:solidFill>
                <a:latin typeface="Tahoma"/>
                <a:cs typeface="Tahoma"/>
              </a:rPr>
              <a:t> с 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регистрацией</a:t>
            </a:r>
            <a:r>
              <a:rPr dirty="0" sz="1350" spc="2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и</a:t>
            </a:r>
            <a:r>
              <a:rPr dirty="0" sz="1350" spc="2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личным кабинетом.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5875" y="2592387"/>
            <a:ext cx="2387600" cy="19983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E4E0DE"/>
                </a:solidFill>
                <a:latin typeface="Tahoma"/>
                <a:cs typeface="Tahoma"/>
              </a:rPr>
              <a:t>Задачи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555"/>
              </a:spcBef>
            </a:pP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Спроектировать</a:t>
            </a:r>
            <a:r>
              <a:rPr dirty="0" sz="1350" spc="21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E4E0DE"/>
                </a:solidFill>
                <a:latin typeface="Tahoma"/>
                <a:cs typeface="Tahoma"/>
              </a:rPr>
              <a:t>БД,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реализовать</a:t>
            </a:r>
            <a:r>
              <a:rPr dirty="0" sz="1350" spc="4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REST</a:t>
            </a:r>
            <a:r>
              <a:rPr dirty="0" sz="135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API</a:t>
            </a:r>
            <a:r>
              <a:rPr dirty="0" sz="135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на 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Node.js/Express,</a:t>
            </a:r>
            <a:r>
              <a:rPr dirty="0" sz="1350" spc="7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создать</a:t>
            </a:r>
            <a:r>
              <a:rPr dirty="0" sz="1350" spc="50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SPA-интерфейс,</a:t>
            </a:r>
            <a:r>
              <a:rPr dirty="0" sz="1350" spc="4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реализовать 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регистрацию/вход</a:t>
            </a:r>
            <a:r>
              <a:rPr dirty="0" sz="1350" spc="17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E4E0DE"/>
                </a:solidFill>
                <a:latin typeface="Tahoma"/>
                <a:cs typeface="Tahoma"/>
              </a:rPr>
              <a:t>и 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сохранение</a:t>
            </a:r>
            <a:r>
              <a:rPr dirty="0" sz="1350" spc="14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вакансий.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71975" y="31432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71975" y="3476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71975" y="38100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71975" y="41433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962150"/>
            <a:ext cx="3305175" cy="330517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60"/>
              <a:t>Стек</a:t>
            </a:r>
            <a:r>
              <a:rPr dirty="0" spc="-355"/>
              <a:t> </a:t>
            </a:r>
            <a:r>
              <a:rPr dirty="0" spc="-165"/>
              <a:t>технологий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97844" y="3035300"/>
            <a:ext cx="3683635" cy="1231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Сервер:</a:t>
            </a:r>
            <a:r>
              <a:rPr dirty="0" sz="1350" spc="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Node.js,</a:t>
            </a:r>
            <a:r>
              <a:rPr dirty="0" sz="1350" spc="7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Express,</a:t>
            </a:r>
            <a:r>
              <a:rPr dirty="0" sz="1350" spc="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dotenv,</a:t>
            </a:r>
            <a:r>
              <a:rPr dirty="0" sz="1350" spc="7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cors,</a:t>
            </a:r>
            <a:r>
              <a:rPr dirty="0" sz="1350" spc="7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crypto</a:t>
            </a:r>
            <a:endParaRPr sz="1350">
              <a:latin typeface="Tahoma"/>
              <a:cs typeface="Tahoma"/>
            </a:endParaRPr>
          </a:p>
          <a:p>
            <a:pPr marL="12700" marR="314960">
              <a:lnSpc>
                <a:spcPct val="162000"/>
              </a:lnSpc>
            </a:pP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Кл8ент:</a:t>
            </a:r>
            <a:r>
              <a:rPr dirty="0" sz="1350" spc="8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HTML5,</a:t>
            </a:r>
            <a:r>
              <a:rPr dirty="0" sz="1350" spc="8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E4E0DE"/>
                </a:solidFill>
                <a:latin typeface="Tahoma"/>
                <a:cs typeface="Tahoma"/>
              </a:rPr>
              <a:t>CSS3,</a:t>
            </a:r>
            <a:r>
              <a:rPr dirty="0" sz="1350" spc="8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JavaScript</a:t>
            </a:r>
            <a:r>
              <a:rPr dirty="0" sz="1350" spc="8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(Vanilla)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Ба7а</a:t>
            </a:r>
            <a:r>
              <a:rPr dirty="0" sz="1350" spc="-8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данных:</a:t>
            </a:r>
            <a:r>
              <a:rPr dirty="0" sz="1350" spc="-8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PostgreSQL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Инструменты:</a:t>
            </a:r>
            <a:r>
              <a:rPr dirty="0" sz="1350" spc="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nodemon,</a:t>
            </a:r>
            <a:r>
              <a:rPr dirty="0" sz="1350" spc="7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Git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486265" cy="6435090"/>
          </a:xfrm>
          <a:custGeom>
            <a:avLst/>
            <a:gdLst/>
            <a:ahLst/>
            <a:cxnLst/>
            <a:rect l="l" t="t" r="r" b="b"/>
            <a:pathLst>
              <a:path w="9486265" h="6435090">
                <a:moveTo>
                  <a:pt x="9486092" y="6434732"/>
                </a:moveTo>
                <a:lnTo>
                  <a:pt x="0" y="6434732"/>
                </a:lnTo>
                <a:lnTo>
                  <a:pt x="0" y="0"/>
                </a:lnTo>
                <a:lnTo>
                  <a:pt x="9486092" y="0"/>
                </a:lnTo>
                <a:lnTo>
                  <a:pt x="9486092" y="6434732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3114" y="2722391"/>
            <a:ext cx="1418200" cy="14182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510408" y="3953413"/>
            <a:ext cx="1991360" cy="1367790"/>
            <a:chOff x="5510408" y="3953413"/>
            <a:chExt cx="1991360" cy="1367790"/>
          </a:xfrm>
        </p:grpSpPr>
        <p:sp>
          <p:nvSpPr>
            <p:cNvPr id="5" name="object 5"/>
            <p:cNvSpPr/>
            <p:nvPr/>
          </p:nvSpPr>
          <p:spPr>
            <a:xfrm>
              <a:off x="5514854" y="3957859"/>
              <a:ext cx="1982470" cy="1358900"/>
            </a:xfrm>
            <a:custGeom>
              <a:avLst/>
              <a:gdLst/>
              <a:ahLst/>
              <a:cxnLst/>
              <a:rect l="l" t="t" r="r" b="b"/>
              <a:pathLst>
                <a:path w="1982470" h="1358900">
                  <a:moveTo>
                    <a:pt x="1846531" y="1358368"/>
                  </a:moveTo>
                  <a:lnTo>
                    <a:pt x="250449" y="1358368"/>
                  </a:lnTo>
                  <a:lnTo>
                    <a:pt x="207512" y="1351443"/>
                  </a:lnTo>
                  <a:lnTo>
                    <a:pt x="170224" y="1332160"/>
                  </a:lnTo>
                  <a:lnTo>
                    <a:pt x="140819" y="1302756"/>
                  </a:lnTo>
                  <a:lnTo>
                    <a:pt x="121537" y="1265467"/>
                  </a:lnTo>
                  <a:lnTo>
                    <a:pt x="114612" y="1222531"/>
                  </a:lnTo>
                  <a:lnTo>
                    <a:pt x="114612" y="144369"/>
                  </a:lnTo>
                  <a:lnTo>
                    <a:pt x="0" y="0"/>
                  </a:lnTo>
                  <a:lnTo>
                    <a:pt x="233469" y="0"/>
                  </a:lnTo>
                  <a:lnTo>
                    <a:pt x="233469" y="1052"/>
                  </a:lnTo>
                  <a:lnTo>
                    <a:pt x="239030" y="356"/>
                  </a:lnTo>
                  <a:lnTo>
                    <a:pt x="244693" y="0"/>
                  </a:lnTo>
                  <a:lnTo>
                    <a:pt x="250449" y="0"/>
                  </a:lnTo>
                  <a:lnTo>
                    <a:pt x="1846531" y="0"/>
                  </a:lnTo>
                  <a:lnTo>
                    <a:pt x="1889465" y="6924"/>
                  </a:lnTo>
                  <a:lnTo>
                    <a:pt x="1926753" y="26207"/>
                  </a:lnTo>
                  <a:lnTo>
                    <a:pt x="1956158" y="55611"/>
                  </a:lnTo>
                  <a:lnTo>
                    <a:pt x="1975443" y="92900"/>
                  </a:lnTo>
                  <a:lnTo>
                    <a:pt x="1982368" y="135836"/>
                  </a:lnTo>
                  <a:lnTo>
                    <a:pt x="1982368" y="1222531"/>
                  </a:lnTo>
                  <a:lnTo>
                    <a:pt x="1975443" y="1265467"/>
                  </a:lnTo>
                  <a:lnTo>
                    <a:pt x="1956158" y="1302756"/>
                  </a:lnTo>
                  <a:lnTo>
                    <a:pt x="1926753" y="1332160"/>
                  </a:lnTo>
                  <a:lnTo>
                    <a:pt x="1889465" y="1351443"/>
                  </a:lnTo>
                  <a:lnTo>
                    <a:pt x="1846531" y="1358368"/>
                  </a:lnTo>
                  <a:close/>
                </a:path>
              </a:pathLst>
            </a:custGeom>
            <a:solidFill>
              <a:srgbClr val="1600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514854" y="3957859"/>
              <a:ext cx="1982470" cy="1358900"/>
            </a:xfrm>
            <a:custGeom>
              <a:avLst/>
              <a:gdLst/>
              <a:ahLst/>
              <a:cxnLst/>
              <a:rect l="l" t="t" r="r" b="b"/>
              <a:pathLst>
                <a:path w="1982470" h="1358900">
                  <a:moveTo>
                    <a:pt x="250448" y="0"/>
                  </a:moveTo>
                  <a:lnTo>
                    <a:pt x="244692" y="0"/>
                  </a:lnTo>
                  <a:lnTo>
                    <a:pt x="239029" y="356"/>
                  </a:lnTo>
                  <a:lnTo>
                    <a:pt x="233469" y="1052"/>
                  </a:lnTo>
                  <a:lnTo>
                    <a:pt x="233469" y="0"/>
                  </a:lnTo>
                  <a:lnTo>
                    <a:pt x="0" y="0"/>
                  </a:lnTo>
                  <a:lnTo>
                    <a:pt x="114611" y="144368"/>
                  </a:lnTo>
                  <a:lnTo>
                    <a:pt x="114611" y="1222531"/>
                  </a:lnTo>
                  <a:lnTo>
                    <a:pt x="121536" y="1265467"/>
                  </a:lnTo>
                  <a:lnTo>
                    <a:pt x="140819" y="1302756"/>
                  </a:lnTo>
                  <a:lnTo>
                    <a:pt x="170223" y="1332160"/>
                  </a:lnTo>
                  <a:lnTo>
                    <a:pt x="207512" y="1351443"/>
                  </a:lnTo>
                  <a:lnTo>
                    <a:pt x="250448" y="1358368"/>
                  </a:lnTo>
                  <a:lnTo>
                    <a:pt x="1846531" y="1358368"/>
                  </a:lnTo>
                  <a:lnTo>
                    <a:pt x="1889464" y="1351443"/>
                  </a:lnTo>
                  <a:lnTo>
                    <a:pt x="1926752" y="1332160"/>
                  </a:lnTo>
                  <a:lnTo>
                    <a:pt x="1956158" y="1302756"/>
                  </a:lnTo>
                  <a:lnTo>
                    <a:pt x="1975442" y="1265467"/>
                  </a:lnTo>
                  <a:lnTo>
                    <a:pt x="1982368" y="1222531"/>
                  </a:lnTo>
                  <a:lnTo>
                    <a:pt x="1982368" y="135836"/>
                  </a:lnTo>
                  <a:lnTo>
                    <a:pt x="1975442" y="92900"/>
                  </a:lnTo>
                  <a:lnTo>
                    <a:pt x="1956158" y="55611"/>
                  </a:lnTo>
                  <a:lnTo>
                    <a:pt x="1926752" y="26207"/>
                  </a:lnTo>
                  <a:lnTo>
                    <a:pt x="1889464" y="6924"/>
                  </a:lnTo>
                  <a:lnTo>
                    <a:pt x="1846531" y="0"/>
                  </a:lnTo>
                  <a:lnTo>
                    <a:pt x="250448" y="0"/>
                  </a:lnTo>
                  <a:close/>
                </a:path>
              </a:pathLst>
            </a:custGeom>
            <a:ln w="8893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1987139" y="3953413"/>
            <a:ext cx="1991360" cy="1367790"/>
            <a:chOff x="1987139" y="3953413"/>
            <a:chExt cx="1991360" cy="1367790"/>
          </a:xfrm>
        </p:grpSpPr>
        <p:sp>
          <p:nvSpPr>
            <p:cNvPr id="8" name="object 8"/>
            <p:cNvSpPr/>
            <p:nvPr/>
          </p:nvSpPr>
          <p:spPr>
            <a:xfrm>
              <a:off x="1991586" y="3957859"/>
              <a:ext cx="1982470" cy="1358900"/>
            </a:xfrm>
            <a:custGeom>
              <a:avLst/>
              <a:gdLst/>
              <a:ahLst/>
              <a:cxnLst/>
              <a:rect l="l" t="t" r="r" b="b"/>
              <a:pathLst>
                <a:path w="1982470" h="1358900">
                  <a:moveTo>
                    <a:pt x="1731919" y="1358368"/>
                  </a:moveTo>
                  <a:lnTo>
                    <a:pt x="135836" y="1358368"/>
                  </a:lnTo>
                  <a:lnTo>
                    <a:pt x="92900" y="1351443"/>
                  </a:lnTo>
                  <a:lnTo>
                    <a:pt x="55611" y="1332160"/>
                  </a:lnTo>
                  <a:lnTo>
                    <a:pt x="26207" y="1302756"/>
                  </a:lnTo>
                  <a:lnTo>
                    <a:pt x="6924" y="1265467"/>
                  </a:lnTo>
                  <a:lnTo>
                    <a:pt x="0" y="1222531"/>
                  </a:lnTo>
                  <a:lnTo>
                    <a:pt x="0" y="135836"/>
                  </a:lnTo>
                  <a:lnTo>
                    <a:pt x="6924" y="92900"/>
                  </a:lnTo>
                  <a:lnTo>
                    <a:pt x="26207" y="55611"/>
                  </a:lnTo>
                  <a:lnTo>
                    <a:pt x="55611" y="26207"/>
                  </a:lnTo>
                  <a:lnTo>
                    <a:pt x="92900" y="6924"/>
                  </a:lnTo>
                  <a:lnTo>
                    <a:pt x="135836" y="0"/>
                  </a:lnTo>
                  <a:lnTo>
                    <a:pt x="1731919" y="0"/>
                  </a:lnTo>
                  <a:lnTo>
                    <a:pt x="1737667" y="0"/>
                  </a:lnTo>
                  <a:lnTo>
                    <a:pt x="1743338" y="356"/>
                  </a:lnTo>
                  <a:lnTo>
                    <a:pt x="1748899" y="1052"/>
                  </a:lnTo>
                  <a:lnTo>
                    <a:pt x="1748899" y="0"/>
                  </a:lnTo>
                  <a:lnTo>
                    <a:pt x="1982368" y="0"/>
                  </a:lnTo>
                  <a:lnTo>
                    <a:pt x="1867756" y="144369"/>
                  </a:lnTo>
                  <a:lnTo>
                    <a:pt x="1867756" y="1222531"/>
                  </a:lnTo>
                  <a:lnTo>
                    <a:pt x="1860830" y="1265467"/>
                  </a:lnTo>
                  <a:lnTo>
                    <a:pt x="1841546" y="1302756"/>
                  </a:lnTo>
                  <a:lnTo>
                    <a:pt x="1812140" y="1332160"/>
                  </a:lnTo>
                  <a:lnTo>
                    <a:pt x="1774852" y="1351443"/>
                  </a:lnTo>
                  <a:lnTo>
                    <a:pt x="1731919" y="1358368"/>
                  </a:lnTo>
                  <a:close/>
                </a:path>
              </a:pathLst>
            </a:custGeom>
            <a:solidFill>
              <a:srgbClr val="1600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91586" y="3957859"/>
              <a:ext cx="1982470" cy="1358900"/>
            </a:xfrm>
            <a:custGeom>
              <a:avLst/>
              <a:gdLst/>
              <a:ahLst/>
              <a:cxnLst/>
              <a:rect l="l" t="t" r="r" b="b"/>
              <a:pathLst>
                <a:path w="1982470" h="1358900">
                  <a:moveTo>
                    <a:pt x="1731919" y="0"/>
                  </a:moveTo>
                  <a:lnTo>
                    <a:pt x="1737667" y="0"/>
                  </a:lnTo>
                  <a:lnTo>
                    <a:pt x="1743338" y="356"/>
                  </a:lnTo>
                  <a:lnTo>
                    <a:pt x="1748899" y="1052"/>
                  </a:lnTo>
                  <a:lnTo>
                    <a:pt x="1748899" y="0"/>
                  </a:lnTo>
                  <a:lnTo>
                    <a:pt x="1982368" y="0"/>
                  </a:lnTo>
                  <a:lnTo>
                    <a:pt x="1867756" y="144368"/>
                  </a:lnTo>
                  <a:lnTo>
                    <a:pt x="1867756" y="1222531"/>
                  </a:lnTo>
                  <a:lnTo>
                    <a:pt x="1860830" y="1265467"/>
                  </a:lnTo>
                  <a:lnTo>
                    <a:pt x="1841546" y="1302756"/>
                  </a:lnTo>
                  <a:lnTo>
                    <a:pt x="1812140" y="1332160"/>
                  </a:lnTo>
                  <a:lnTo>
                    <a:pt x="1774852" y="1351443"/>
                  </a:lnTo>
                  <a:lnTo>
                    <a:pt x="1731919" y="1358368"/>
                  </a:lnTo>
                  <a:lnTo>
                    <a:pt x="135836" y="1358368"/>
                  </a:lnTo>
                  <a:lnTo>
                    <a:pt x="92900" y="1351443"/>
                  </a:lnTo>
                  <a:lnTo>
                    <a:pt x="55611" y="1332160"/>
                  </a:lnTo>
                  <a:lnTo>
                    <a:pt x="26207" y="1302756"/>
                  </a:lnTo>
                  <a:lnTo>
                    <a:pt x="6924" y="1265467"/>
                  </a:lnTo>
                  <a:lnTo>
                    <a:pt x="0" y="1222531"/>
                  </a:lnTo>
                  <a:lnTo>
                    <a:pt x="0" y="135836"/>
                  </a:lnTo>
                  <a:lnTo>
                    <a:pt x="6924" y="92900"/>
                  </a:lnTo>
                  <a:lnTo>
                    <a:pt x="26207" y="55611"/>
                  </a:lnTo>
                  <a:lnTo>
                    <a:pt x="55611" y="26207"/>
                  </a:lnTo>
                  <a:lnTo>
                    <a:pt x="92900" y="6924"/>
                  </a:lnTo>
                  <a:lnTo>
                    <a:pt x="135836" y="0"/>
                  </a:lnTo>
                  <a:lnTo>
                    <a:pt x="1731919" y="0"/>
                  </a:lnTo>
                  <a:close/>
                </a:path>
              </a:pathLst>
            </a:custGeom>
            <a:ln w="8893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3803889" y="1228186"/>
            <a:ext cx="1877060" cy="1393190"/>
            <a:chOff x="3803889" y="1228186"/>
            <a:chExt cx="1877060" cy="1393190"/>
          </a:xfrm>
        </p:grpSpPr>
        <p:sp>
          <p:nvSpPr>
            <p:cNvPr id="11" name="object 11"/>
            <p:cNvSpPr/>
            <p:nvPr/>
          </p:nvSpPr>
          <p:spPr>
            <a:xfrm>
              <a:off x="3808335" y="1232633"/>
              <a:ext cx="1868170" cy="1384300"/>
            </a:xfrm>
            <a:custGeom>
              <a:avLst/>
              <a:gdLst/>
              <a:ahLst/>
              <a:cxnLst/>
              <a:rect l="l" t="t" r="r" b="b"/>
              <a:pathLst>
                <a:path w="1868170" h="1384300">
                  <a:moveTo>
                    <a:pt x="933878" y="1383837"/>
                  </a:moveTo>
                  <a:lnTo>
                    <a:pt x="792955" y="1188572"/>
                  </a:lnTo>
                  <a:lnTo>
                    <a:pt x="135836" y="1188572"/>
                  </a:lnTo>
                  <a:lnTo>
                    <a:pt x="92900" y="1181647"/>
                  </a:lnTo>
                  <a:lnTo>
                    <a:pt x="55611" y="1162364"/>
                  </a:lnTo>
                  <a:lnTo>
                    <a:pt x="26207" y="1132960"/>
                  </a:lnTo>
                  <a:lnTo>
                    <a:pt x="6924" y="1095671"/>
                  </a:lnTo>
                  <a:lnTo>
                    <a:pt x="0" y="1052735"/>
                  </a:lnTo>
                  <a:lnTo>
                    <a:pt x="0" y="135836"/>
                  </a:lnTo>
                  <a:lnTo>
                    <a:pt x="6924" y="92901"/>
                  </a:lnTo>
                  <a:lnTo>
                    <a:pt x="26207" y="55613"/>
                  </a:lnTo>
                  <a:lnTo>
                    <a:pt x="55611" y="26208"/>
                  </a:lnTo>
                  <a:lnTo>
                    <a:pt x="92900" y="6925"/>
                  </a:lnTo>
                  <a:lnTo>
                    <a:pt x="135836" y="0"/>
                  </a:lnTo>
                  <a:lnTo>
                    <a:pt x="1731919" y="0"/>
                  </a:lnTo>
                  <a:lnTo>
                    <a:pt x="1774855" y="6925"/>
                  </a:lnTo>
                  <a:lnTo>
                    <a:pt x="1812144" y="26208"/>
                  </a:lnTo>
                  <a:lnTo>
                    <a:pt x="1841548" y="55613"/>
                  </a:lnTo>
                  <a:lnTo>
                    <a:pt x="1860831" y="92901"/>
                  </a:lnTo>
                  <a:lnTo>
                    <a:pt x="1867756" y="135836"/>
                  </a:lnTo>
                  <a:lnTo>
                    <a:pt x="1867756" y="1052735"/>
                  </a:lnTo>
                  <a:lnTo>
                    <a:pt x="1860831" y="1095671"/>
                  </a:lnTo>
                  <a:lnTo>
                    <a:pt x="1841548" y="1132960"/>
                  </a:lnTo>
                  <a:lnTo>
                    <a:pt x="1812144" y="1162364"/>
                  </a:lnTo>
                  <a:lnTo>
                    <a:pt x="1774855" y="1181647"/>
                  </a:lnTo>
                  <a:lnTo>
                    <a:pt x="1731919" y="1188572"/>
                  </a:lnTo>
                  <a:lnTo>
                    <a:pt x="1074800" y="1188572"/>
                  </a:lnTo>
                  <a:lnTo>
                    <a:pt x="933878" y="1383837"/>
                  </a:lnTo>
                  <a:close/>
                </a:path>
              </a:pathLst>
            </a:custGeom>
            <a:solidFill>
              <a:srgbClr val="1600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808336" y="1232633"/>
              <a:ext cx="1868170" cy="1384300"/>
            </a:xfrm>
            <a:custGeom>
              <a:avLst/>
              <a:gdLst/>
              <a:ahLst/>
              <a:cxnLst/>
              <a:rect l="l" t="t" r="r" b="b"/>
              <a:pathLst>
                <a:path w="1868170" h="1384300">
                  <a:moveTo>
                    <a:pt x="1731919" y="0"/>
                  </a:moveTo>
                  <a:lnTo>
                    <a:pt x="1774856" y="6925"/>
                  </a:lnTo>
                  <a:lnTo>
                    <a:pt x="1812144" y="26208"/>
                  </a:lnTo>
                  <a:lnTo>
                    <a:pt x="1841549" y="55613"/>
                  </a:lnTo>
                  <a:lnTo>
                    <a:pt x="1860831" y="92901"/>
                  </a:lnTo>
                  <a:lnTo>
                    <a:pt x="1867756" y="135836"/>
                  </a:lnTo>
                  <a:lnTo>
                    <a:pt x="1867756" y="1052735"/>
                  </a:lnTo>
                  <a:lnTo>
                    <a:pt x="1860831" y="1095671"/>
                  </a:lnTo>
                  <a:lnTo>
                    <a:pt x="1841549" y="1132960"/>
                  </a:lnTo>
                  <a:lnTo>
                    <a:pt x="1812144" y="1162364"/>
                  </a:lnTo>
                  <a:lnTo>
                    <a:pt x="1774856" y="1181647"/>
                  </a:lnTo>
                  <a:lnTo>
                    <a:pt x="1731919" y="1188572"/>
                  </a:lnTo>
                  <a:lnTo>
                    <a:pt x="1074800" y="1188572"/>
                  </a:lnTo>
                  <a:lnTo>
                    <a:pt x="933878" y="1383837"/>
                  </a:lnTo>
                  <a:lnTo>
                    <a:pt x="792956" y="1188572"/>
                  </a:lnTo>
                  <a:lnTo>
                    <a:pt x="135836" y="1188572"/>
                  </a:lnTo>
                  <a:lnTo>
                    <a:pt x="92900" y="1181647"/>
                  </a:lnTo>
                  <a:lnTo>
                    <a:pt x="55611" y="1162364"/>
                  </a:lnTo>
                  <a:lnTo>
                    <a:pt x="26207" y="1132960"/>
                  </a:lnTo>
                  <a:lnTo>
                    <a:pt x="6924" y="1095671"/>
                  </a:lnTo>
                  <a:lnTo>
                    <a:pt x="0" y="1052735"/>
                  </a:lnTo>
                  <a:lnTo>
                    <a:pt x="0" y="135836"/>
                  </a:lnTo>
                  <a:lnTo>
                    <a:pt x="6924" y="92901"/>
                  </a:lnTo>
                  <a:lnTo>
                    <a:pt x="26207" y="55613"/>
                  </a:lnTo>
                  <a:lnTo>
                    <a:pt x="55611" y="26208"/>
                  </a:lnTo>
                  <a:lnTo>
                    <a:pt x="92900" y="6925"/>
                  </a:lnTo>
                  <a:lnTo>
                    <a:pt x="135836" y="0"/>
                  </a:lnTo>
                  <a:lnTo>
                    <a:pt x="1731919" y="0"/>
                  </a:lnTo>
                  <a:close/>
                </a:path>
              </a:pathLst>
            </a:custGeom>
            <a:ln w="8893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85319" y="374648"/>
            <a:ext cx="447421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0"/>
              <a:t>Архитектура</a:t>
            </a:r>
            <a:r>
              <a:rPr dirty="0" sz="2800" spc="-270"/>
              <a:t> </a:t>
            </a:r>
            <a:r>
              <a:rPr dirty="0" sz="2800" spc="-140"/>
              <a:t>приложения</a:t>
            </a:r>
            <a:endParaRPr sz="2800"/>
          </a:p>
        </p:txBody>
      </p:sp>
      <p:sp>
        <p:nvSpPr>
          <p:cNvPr id="14" name="object 14"/>
          <p:cNvSpPr txBox="1"/>
          <p:nvPr/>
        </p:nvSpPr>
        <p:spPr>
          <a:xfrm>
            <a:off x="4231003" y="3049485"/>
            <a:ext cx="1028065" cy="73025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algn="ctr" marL="12700" marR="5080">
              <a:lnSpc>
                <a:spcPct val="104000"/>
              </a:lnSpc>
              <a:spcBef>
                <a:spcPts val="30"/>
              </a:spcBef>
            </a:pPr>
            <a:r>
              <a:rPr dirty="0" sz="1500" spc="-50" b="1">
                <a:solidFill>
                  <a:srgbClr val="FFFFFF"/>
                </a:solidFill>
                <a:latin typeface="Tahoma"/>
                <a:cs typeface="Tahoma"/>
              </a:rPr>
              <a:t>Three-</a:t>
            </a:r>
            <a:r>
              <a:rPr dirty="0" sz="1500" spc="-20" b="1">
                <a:solidFill>
                  <a:srgbClr val="FFFFFF"/>
                </a:solidFill>
                <a:latin typeface="Tahoma"/>
                <a:cs typeface="Tahoma"/>
              </a:rPr>
              <a:t>tier </a:t>
            </a:r>
            <a:r>
              <a:rPr dirty="0" sz="1500" spc="-60" b="1">
                <a:solidFill>
                  <a:srgbClr val="FFFFFF"/>
                </a:solidFill>
                <a:latin typeface="Tahoma"/>
                <a:cs typeface="Tahoma"/>
              </a:rPr>
              <a:t>Architectur </a:t>
            </a:r>
            <a:r>
              <a:rPr dirty="0" sz="1500" spc="-5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18198" y="4181812"/>
            <a:ext cx="1487170" cy="79565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dirty="0" sz="1500" spc="-60" b="1">
                <a:solidFill>
                  <a:srgbClr val="E4E0DE"/>
                </a:solidFill>
                <a:latin typeface="Tahoma"/>
                <a:cs typeface="Tahoma"/>
              </a:rPr>
              <a:t>Node.js/Express</a:t>
            </a:r>
            <a:endParaRPr sz="1500">
              <a:latin typeface="Tahoma"/>
              <a:cs typeface="Tahoma"/>
            </a:endParaRPr>
          </a:p>
          <a:p>
            <a:pPr algn="ctr" marL="52069" marR="47625">
              <a:lnSpc>
                <a:spcPct val="106800"/>
              </a:lnSpc>
              <a:spcBef>
                <a:spcPts val="470"/>
              </a:spcBef>
            </a:pP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REST</a:t>
            </a:r>
            <a:r>
              <a:rPr dirty="0" sz="1200" spc="6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API</a:t>
            </a:r>
            <a:r>
              <a:rPr dirty="0" sz="1200" spc="6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served</a:t>
            </a:r>
            <a:r>
              <a:rPr dirty="0" sz="1200" spc="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E4E0DE"/>
                </a:solidFill>
                <a:latin typeface="Tahoma"/>
                <a:cs typeface="Tahoma"/>
              </a:rPr>
              <a:t>by </a:t>
            </a:r>
            <a:r>
              <a:rPr dirty="0" sz="1200" spc="-10">
                <a:solidFill>
                  <a:srgbClr val="E4E0DE"/>
                </a:solidFill>
                <a:latin typeface="Tahoma"/>
                <a:cs typeface="Tahoma"/>
              </a:rPr>
              <a:t>server_clean.js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55134" y="4088424"/>
            <a:ext cx="1326515" cy="98298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815"/>
              </a:spcBef>
            </a:pPr>
            <a:r>
              <a:rPr dirty="0" sz="1500" spc="-10" b="1">
                <a:solidFill>
                  <a:srgbClr val="E4E0DE"/>
                </a:solidFill>
                <a:latin typeface="Tahoma"/>
                <a:cs typeface="Tahoma"/>
              </a:rPr>
              <a:t>PostgreSQL</a:t>
            </a:r>
            <a:endParaRPr sz="1500">
              <a:latin typeface="Tahoma"/>
              <a:cs typeface="Tahoma"/>
            </a:endParaRPr>
          </a:p>
          <a:p>
            <a:pPr algn="ctr" marL="12065" marR="5080">
              <a:lnSpc>
                <a:spcPct val="104500"/>
              </a:lnSpc>
              <a:spcBef>
                <a:spcPts val="505"/>
              </a:spcBef>
            </a:pP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Persistent</a:t>
            </a:r>
            <a:r>
              <a:rPr dirty="0" sz="1200" spc="1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E4E0DE"/>
                </a:solidFill>
                <a:latin typeface="Tahoma"/>
                <a:cs typeface="Tahoma"/>
              </a:rPr>
              <a:t>storage; </a:t>
            </a: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tables</a:t>
            </a:r>
            <a:r>
              <a:rPr dirty="0" sz="1200" spc="8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E4E0DE"/>
                </a:solidFill>
                <a:latin typeface="Tahoma"/>
                <a:cs typeface="Tahoma"/>
              </a:rPr>
              <a:t>via </a:t>
            </a:r>
            <a:r>
              <a:rPr dirty="0" sz="1200" spc="-10">
                <a:solidFill>
                  <a:srgbClr val="E4E0DE"/>
                </a:solidFill>
                <a:latin typeface="Tahoma"/>
                <a:cs typeface="Tahoma"/>
              </a:rPr>
              <a:t>ensureTables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48982" y="1344096"/>
            <a:ext cx="1580515" cy="80645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894"/>
              </a:spcBef>
            </a:pPr>
            <a:r>
              <a:rPr dirty="0" sz="1500" spc="-75" b="1">
                <a:solidFill>
                  <a:srgbClr val="E4E0DE"/>
                </a:solidFill>
                <a:latin typeface="Tahoma"/>
                <a:cs typeface="Tahoma"/>
              </a:rPr>
              <a:t>Browser</a:t>
            </a:r>
            <a:r>
              <a:rPr dirty="0" sz="1500" spc="-130" b="1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500" spc="-20" b="1">
                <a:solidFill>
                  <a:srgbClr val="E4E0DE"/>
                </a:solidFill>
                <a:latin typeface="Tahoma"/>
                <a:cs typeface="Tahoma"/>
              </a:rPr>
              <a:t>(SPA)</a:t>
            </a:r>
            <a:endParaRPr sz="1500">
              <a:latin typeface="Tahoma"/>
              <a:cs typeface="Tahoma"/>
            </a:endParaRPr>
          </a:p>
          <a:p>
            <a:pPr algn="ctr" marL="12065" marR="5080">
              <a:lnSpc>
                <a:spcPct val="102099"/>
              </a:lnSpc>
              <a:spcBef>
                <a:spcPts val="610"/>
              </a:spcBef>
            </a:pP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Static</a:t>
            </a:r>
            <a:r>
              <a:rPr dirty="0" sz="1200" spc="1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files:</a:t>
            </a:r>
            <a:r>
              <a:rPr dirty="0" sz="1200" spc="1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E4E0DE"/>
                </a:solidFill>
                <a:latin typeface="Tahoma"/>
                <a:cs typeface="Tahoma"/>
              </a:rPr>
              <a:t>index.html, </a:t>
            </a: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app.js,</a:t>
            </a:r>
            <a:r>
              <a:rPr dirty="0" sz="1200" spc="-3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E4E0DE"/>
                </a:solidFill>
                <a:latin typeface="Tahoma"/>
                <a:cs typeface="Tahoma"/>
              </a:rPr>
              <a:t>styles.css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5319" y="5541407"/>
            <a:ext cx="8248015" cy="468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5"/>
              </a:spcBef>
            </a:pPr>
            <a:r>
              <a:rPr dirty="0" sz="1100" spc="45">
                <a:solidFill>
                  <a:srgbClr val="E4E0DE"/>
                </a:solidFill>
                <a:latin typeface="Tahoma"/>
                <a:cs typeface="Tahoma"/>
              </a:rPr>
              <a:t>Классическая</a:t>
            </a:r>
            <a:r>
              <a:rPr dirty="0" sz="110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E0DE"/>
                </a:solidFill>
                <a:latin typeface="Tahoma"/>
                <a:cs typeface="Tahoma"/>
              </a:rPr>
              <a:t>трёхуровневая</a:t>
            </a:r>
            <a:r>
              <a:rPr dirty="0" sz="110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E0DE"/>
                </a:solidFill>
                <a:latin typeface="Tahoma"/>
                <a:cs typeface="Tahoma"/>
              </a:rPr>
              <a:t>архитектура.</a:t>
            </a:r>
            <a:r>
              <a:rPr dirty="0" sz="110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E4E0DE"/>
                </a:solidFill>
                <a:latin typeface="Tahoma"/>
                <a:cs typeface="Tahoma"/>
              </a:rPr>
              <a:t>SPA</a:t>
            </a:r>
            <a:r>
              <a:rPr dirty="0" sz="110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E4E0DE"/>
                </a:solidFill>
                <a:latin typeface="Tahoma"/>
                <a:cs typeface="Tahoma"/>
              </a:rPr>
              <a:t>в</a:t>
            </a:r>
            <a:r>
              <a:rPr dirty="0" sz="110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E0DE"/>
                </a:solidFill>
                <a:latin typeface="Tahoma"/>
                <a:cs typeface="Tahoma"/>
              </a:rPr>
              <a:t>public/</a:t>
            </a:r>
            <a:r>
              <a:rPr dirty="0" sz="110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E0DE"/>
                </a:solidFill>
                <a:latin typeface="Tahoma"/>
                <a:cs typeface="Tahoma"/>
              </a:rPr>
              <a:t>(index.html,</a:t>
            </a:r>
            <a:r>
              <a:rPr dirty="0" sz="110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E0DE"/>
                </a:solidFill>
                <a:latin typeface="Tahoma"/>
                <a:cs typeface="Tahoma"/>
              </a:rPr>
              <a:t>app.js,</a:t>
            </a:r>
            <a:r>
              <a:rPr dirty="0" sz="110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E0DE"/>
                </a:solidFill>
                <a:latin typeface="Tahoma"/>
                <a:cs typeface="Tahoma"/>
              </a:rPr>
              <a:t>styles.css).</a:t>
            </a:r>
            <a:r>
              <a:rPr dirty="0" sz="110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E4E0DE"/>
                </a:solidFill>
                <a:latin typeface="Tahoma"/>
                <a:cs typeface="Tahoma"/>
              </a:rPr>
              <a:t>Серверный</a:t>
            </a:r>
            <a:r>
              <a:rPr dirty="0" sz="1100" spc="5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E4E0DE"/>
                </a:solidFill>
                <a:latin typeface="Tahoma"/>
                <a:cs typeface="Tahoma"/>
              </a:rPr>
              <a:t>файл</a:t>
            </a:r>
            <a:r>
              <a:rPr dirty="0" sz="110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 spc="120">
                <a:solidFill>
                  <a:srgbClr val="E4E0DE"/>
                </a:solidFill>
                <a:latin typeface="Tahoma"/>
                <a:cs typeface="Tahoma"/>
              </a:rPr>
              <a:t>—</a:t>
            </a:r>
            <a:r>
              <a:rPr dirty="0" sz="110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E4E0DE"/>
                </a:solidFill>
                <a:latin typeface="Tahoma"/>
                <a:cs typeface="Tahoma"/>
              </a:rPr>
              <a:t>server_clean.js. </a:t>
            </a:r>
            <a:r>
              <a:rPr dirty="0" sz="1100">
                <a:solidFill>
                  <a:srgbClr val="E4E0DE"/>
                </a:solidFill>
                <a:latin typeface="Tahoma"/>
                <a:cs typeface="Tahoma"/>
              </a:rPr>
              <a:t>Таблицы </a:t>
            </a:r>
            <a:r>
              <a:rPr dirty="0" sz="1100" spc="45">
                <a:solidFill>
                  <a:srgbClr val="E4E0DE"/>
                </a:solidFill>
                <a:latin typeface="Tahoma"/>
                <a:cs typeface="Tahoma"/>
              </a:rPr>
              <a:t>создаются</a:t>
            </a:r>
            <a:r>
              <a:rPr dirty="0" sz="1100">
                <a:solidFill>
                  <a:srgbClr val="E4E0DE"/>
                </a:solidFill>
                <a:latin typeface="Tahoma"/>
                <a:cs typeface="Tahoma"/>
              </a:rPr>
              <a:t> функцией</a:t>
            </a:r>
            <a:r>
              <a:rPr dirty="0" sz="1100" spc="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E4E0DE"/>
                </a:solidFill>
                <a:latin typeface="Tahoma"/>
                <a:cs typeface="Tahoma"/>
              </a:rPr>
              <a:t>ensureTables.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905374" y="31813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5"/>
                </a:lnTo>
                <a:lnTo>
                  <a:pt x="57150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E4D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905374" y="35242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5"/>
                </a:lnTo>
                <a:lnTo>
                  <a:pt x="57150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E4D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05374" y="3857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5"/>
                </a:lnTo>
                <a:lnTo>
                  <a:pt x="57150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E4D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05374" y="41910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5"/>
                </a:lnTo>
                <a:lnTo>
                  <a:pt x="57150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E4D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05374" y="45243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5"/>
                </a:lnTo>
                <a:lnTo>
                  <a:pt x="57150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E4DFD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695450"/>
            <a:ext cx="3838575" cy="3838575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87375" y="692150"/>
            <a:ext cx="40005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65"/>
              <a:t>Структура</a:t>
            </a:r>
            <a:r>
              <a:rPr dirty="0" spc="-305"/>
              <a:t> </a:t>
            </a:r>
            <a:r>
              <a:rPr dirty="0" spc="-100"/>
              <a:t>проекта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856063" y="2644775"/>
            <a:ext cx="4175760" cy="20027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диплом/</a:t>
            </a:r>
            <a:endParaRPr sz="1350">
              <a:latin typeface="Tahoma"/>
              <a:cs typeface="Tahoma"/>
            </a:endParaRPr>
          </a:p>
          <a:p>
            <a:pPr marL="286385" marR="1489710">
              <a:lnSpc>
                <a:spcPct val="166700"/>
              </a:lnSpc>
              <a:spcBef>
                <a:spcPts val="675"/>
              </a:spcBef>
            </a:pP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server_clean.js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E4E0DE"/>
                </a:solidFill>
                <a:latin typeface="Tahoma"/>
                <a:cs typeface="Tahoma"/>
              </a:rPr>
              <a:t>—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точка</a:t>
            </a:r>
            <a:r>
              <a:rPr dirty="0" sz="1350" spc="-20">
                <a:solidFill>
                  <a:srgbClr val="E4E0DE"/>
                </a:solidFill>
                <a:latin typeface="Tahoma"/>
                <a:cs typeface="Tahoma"/>
              </a:rPr>
              <a:t> входа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db.js,</a:t>
            </a:r>
            <a:r>
              <a:rPr dirty="0" sz="1350" spc="-4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db.sql</a:t>
            </a:r>
            <a:r>
              <a:rPr dirty="0" sz="1350" spc="-4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E4E0DE"/>
                </a:solidFill>
                <a:latin typeface="Tahoma"/>
                <a:cs typeface="Tahoma"/>
              </a:rPr>
              <a:t>—</a:t>
            </a:r>
            <a:r>
              <a:rPr dirty="0" sz="1350" spc="-4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E4E0DE"/>
                </a:solidFill>
                <a:latin typeface="Tahoma"/>
                <a:cs typeface="Tahoma"/>
              </a:rPr>
              <a:t>БД</a:t>
            </a:r>
            <a:endParaRPr sz="1350">
              <a:latin typeface="Tahoma"/>
              <a:cs typeface="Tahoma"/>
            </a:endParaRPr>
          </a:p>
          <a:p>
            <a:pPr marL="286385" marR="569595">
              <a:lnSpc>
                <a:spcPct val="162000"/>
              </a:lnSpc>
            </a:pP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russian_jobs.js</a:t>
            </a:r>
            <a:r>
              <a:rPr dirty="0" sz="1350" spc="-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E4E0DE"/>
                </a:solidFill>
                <a:latin typeface="Tahoma"/>
                <a:cs typeface="Tahoma"/>
              </a:rPr>
              <a:t>—</a:t>
            </a:r>
            <a:r>
              <a:rPr dirty="0" sz="1350" spc="-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каталог</a:t>
            </a:r>
            <a:r>
              <a:rPr dirty="0" sz="1350" spc="-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из</a:t>
            </a:r>
            <a:r>
              <a:rPr dirty="0" sz="1350" spc="-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105">
                <a:solidFill>
                  <a:srgbClr val="E4E0DE"/>
                </a:solidFill>
                <a:latin typeface="Tahoma"/>
                <a:cs typeface="Tahoma"/>
              </a:rPr>
              <a:t>40</a:t>
            </a:r>
            <a:r>
              <a:rPr dirty="0" sz="1350" spc="-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вакансий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public/:</a:t>
            </a:r>
            <a:r>
              <a:rPr dirty="0" sz="1350" spc="-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index.html,</a:t>
            </a:r>
            <a:r>
              <a:rPr dirty="0" sz="1350" spc="-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app.js,</a:t>
            </a:r>
            <a:r>
              <a:rPr dirty="0" sz="1350" spc="-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E4E0DE"/>
                </a:solidFill>
                <a:latin typeface="Tahoma"/>
                <a:cs typeface="Tahoma"/>
              </a:rPr>
              <a:t>styles.css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.env</a:t>
            </a:r>
            <a:r>
              <a:rPr dirty="0" sz="1350" spc="1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E4E0DE"/>
                </a:solidFill>
                <a:latin typeface="Tahoma"/>
                <a:cs typeface="Tahoma"/>
              </a:rPr>
              <a:t>/</a:t>
            </a:r>
            <a:r>
              <a:rPr dirty="0" sz="1350" spc="1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package.json</a:t>
            </a:r>
            <a:r>
              <a:rPr dirty="0" sz="1350" spc="2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E4E0DE"/>
                </a:solidFill>
                <a:latin typeface="Tahoma"/>
                <a:cs typeface="Tahoma"/>
              </a:rPr>
              <a:t>—</a:t>
            </a:r>
            <a:r>
              <a:rPr dirty="0" sz="1350" spc="1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настройки</a:t>
            </a:r>
            <a:r>
              <a:rPr dirty="0" sz="1350" spc="1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и</a:t>
            </a:r>
            <a:r>
              <a:rPr dirty="0" sz="1350" spc="2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зависимости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00075" y="2505075"/>
            <a:ext cx="3295650" cy="1571625"/>
            <a:chOff x="600075" y="2505075"/>
            <a:chExt cx="3295650" cy="1571625"/>
          </a:xfrm>
        </p:grpSpPr>
        <p:sp>
          <p:nvSpPr>
            <p:cNvPr id="4" name="object 4"/>
            <p:cNvSpPr/>
            <p:nvPr/>
          </p:nvSpPr>
          <p:spPr>
            <a:xfrm>
              <a:off x="609600" y="2514600"/>
              <a:ext cx="3276600" cy="1552575"/>
            </a:xfrm>
            <a:custGeom>
              <a:avLst/>
              <a:gdLst/>
              <a:ahLst/>
              <a:cxnLst/>
              <a:rect l="l" t="t" r="r" b="b"/>
              <a:pathLst>
                <a:path w="3276600" h="1552575">
                  <a:moveTo>
                    <a:pt x="3229432" y="1552574"/>
                  </a:moveTo>
                  <a:lnTo>
                    <a:pt x="47167" y="1552574"/>
                  </a:lnTo>
                  <a:lnTo>
                    <a:pt x="43884" y="1552251"/>
                  </a:lnTo>
                  <a:lnTo>
                    <a:pt x="10349" y="1532894"/>
                  </a:lnTo>
                  <a:lnTo>
                    <a:pt x="0" y="1505407"/>
                  </a:lnTo>
                  <a:lnTo>
                    <a:pt x="0" y="1502092"/>
                  </a:lnTo>
                  <a:lnTo>
                    <a:pt x="0" y="47167"/>
                  </a:lnTo>
                  <a:lnTo>
                    <a:pt x="17129" y="12442"/>
                  </a:lnTo>
                  <a:lnTo>
                    <a:pt x="47167" y="0"/>
                  </a:lnTo>
                  <a:lnTo>
                    <a:pt x="3229432" y="0"/>
                  </a:lnTo>
                  <a:lnTo>
                    <a:pt x="3264157" y="17129"/>
                  </a:lnTo>
                  <a:lnTo>
                    <a:pt x="3276600" y="47167"/>
                  </a:lnTo>
                  <a:lnTo>
                    <a:pt x="3276600" y="1505407"/>
                  </a:lnTo>
                  <a:lnTo>
                    <a:pt x="3259470" y="1540132"/>
                  </a:lnTo>
                  <a:lnTo>
                    <a:pt x="3232715" y="1552251"/>
                  </a:lnTo>
                  <a:lnTo>
                    <a:pt x="3229432" y="1552574"/>
                  </a:lnTo>
                  <a:close/>
                </a:path>
              </a:pathLst>
            </a:custGeom>
            <a:solidFill>
              <a:srgbClr val="26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9600" y="2514600"/>
              <a:ext cx="3276600" cy="1552575"/>
            </a:xfrm>
            <a:custGeom>
              <a:avLst/>
              <a:gdLst/>
              <a:ahLst/>
              <a:cxnLst/>
              <a:rect l="l" t="t" r="r" b="b"/>
              <a:pathLst>
                <a:path w="3276600" h="1552575">
                  <a:moveTo>
                    <a:pt x="0" y="15020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28101" y="5111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26117" y="0"/>
                  </a:lnTo>
                  <a:lnTo>
                    <a:pt x="3229432" y="0"/>
                  </a:lnTo>
                  <a:lnTo>
                    <a:pt x="3232715" y="323"/>
                  </a:lnTo>
                  <a:lnTo>
                    <a:pt x="3235966" y="970"/>
                  </a:lnTo>
                  <a:lnTo>
                    <a:pt x="3239216" y="1616"/>
                  </a:lnTo>
                  <a:lnTo>
                    <a:pt x="3254163" y="8507"/>
                  </a:lnTo>
                  <a:lnTo>
                    <a:pt x="3256920" y="10349"/>
                  </a:lnTo>
                  <a:lnTo>
                    <a:pt x="3259470" y="12442"/>
                  </a:lnTo>
                  <a:lnTo>
                    <a:pt x="3261814" y="14786"/>
                  </a:lnTo>
                  <a:lnTo>
                    <a:pt x="3264157" y="17129"/>
                  </a:lnTo>
                  <a:lnTo>
                    <a:pt x="3276600" y="47167"/>
                  </a:lnTo>
                  <a:lnTo>
                    <a:pt x="3276600" y="50482"/>
                  </a:lnTo>
                  <a:lnTo>
                    <a:pt x="3276600" y="1502092"/>
                  </a:lnTo>
                  <a:lnTo>
                    <a:pt x="3276600" y="1505407"/>
                  </a:lnTo>
                  <a:lnTo>
                    <a:pt x="3276276" y="1508690"/>
                  </a:lnTo>
                  <a:lnTo>
                    <a:pt x="3275630" y="1511940"/>
                  </a:lnTo>
                  <a:lnTo>
                    <a:pt x="3274983" y="1515192"/>
                  </a:lnTo>
                  <a:lnTo>
                    <a:pt x="3254163" y="1544066"/>
                  </a:lnTo>
                  <a:lnTo>
                    <a:pt x="3251408" y="1545908"/>
                  </a:lnTo>
                  <a:lnTo>
                    <a:pt x="3248498" y="1547463"/>
                  </a:lnTo>
                  <a:lnTo>
                    <a:pt x="3245436" y="1548731"/>
                  </a:lnTo>
                  <a:lnTo>
                    <a:pt x="3242373" y="1550000"/>
                  </a:lnTo>
                  <a:lnTo>
                    <a:pt x="3226117" y="1552575"/>
                  </a:lnTo>
                  <a:lnTo>
                    <a:pt x="50482" y="1552575"/>
                  </a:lnTo>
                  <a:lnTo>
                    <a:pt x="47167" y="1552574"/>
                  </a:lnTo>
                  <a:lnTo>
                    <a:pt x="43884" y="1552251"/>
                  </a:lnTo>
                  <a:lnTo>
                    <a:pt x="40633" y="1551604"/>
                  </a:lnTo>
                  <a:lnTo>
                    <a:pt x="37382" y="1550958"/>
                  </a:lnTo>
                  <a:lnTo>
                    <a:pt x="6666" y="1527382"/>
                  </a:lnTo>
                  <a:lnTo>
                    <a:pt x="969" y="1511940"/>
                  </a:lnTo>
                  <a:lnTo>
                    <a:pt x="323" y="1508690"/>
                  </a:lnTo>
                  <a:lnTo>
                    <a:pt x="0" y="1505407"/>
                  </a:lnTo>
                  <a:lnTo>
                    <a:pt x="0" y="1502092"/>
                  </a:lnTo>
                  <a:close/>
                </a:path>
              </a:pathLst>
            </a:custGeom>
            <a:ln w="19050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4067175" y="2505075"/>
            <a:ext cx="3295650" cy="1571625"/>
            <a:chOff x="4067175" y="2505075"/>
            <a:chExt cx="3295650" cy="1571625"/>
          </a:xfrm>
        </p:grpSpPr>
        <p:sp>
          <p:nvSpPr>
            <p:cNvPr id="7" name="object 7"/>
            <p:cNvSpPr/>
            <p:nvPr/>
          </p:nvSpPr>
          <p:spPr>
            <a:xfrm>
              <a:off x="4076700" y="2514600"/>
              <a:ext cx="3276600" cy="1552575"/>
            </a:xfrm>
            <a:custGeom>
              <a:avLst/>
              <a:gdLst/>
              <a:ahLst/>
              <a:cxnLst/>
              <a:rect l="l" t="t" r="r" b="b"/>
              <a:pathLst>
                <a:path w="3276600" h="1552575">
                  <a:moveTo>
                    <a:pt x="3229432" y="1552574"/>
                  </a:moveTo>
                  <a:lnTo>
                    <a:pt x="47167" y="1552574"/>
                  </a:lnTo>
                  <a:lnTo>
                    <a:pt x="43884" y="1552251"/>
                  </a:lnTo>
                  <a:lnTo>
                    <a:pt x="10349" y="1532894"/>
                  </a:lnTo>
                  <a:lnTo>
                    <a:pt x="0" y="1505407"/>
                  </a:lnTo>
                  <a:lnTo>
                    <a:pt x="0" y="1502092"/>
                  </a:lnTo>
                  <a:lnTo>
                    <a:pt x="0" y="47167"/>
                  </a:lnTo>
                  <a:lnTo>
                    <a:pt x="17129" y="12442"/>
                  </a:lnTo>
                  <a:lnTo>
                    <a:pt x="47167" y="0"/>
                  </a:lnTo>
                  <a:lnTo>
                    <a:pt x="3229432" y="0"/>
                  </a:lnTo>
                  <a:lnTo>
                    <a:pt x="3264157" y="17129"/>
                  </a:lnTo>
                  <a:lnTo>
                    <a:pt x="3276600" y="47167"/>
                  </a:lnTo>
                  <a:lnTo>
                    <a:pt x="3276600" y="1505407"/>
                  </a:lnTo>
                  <a:lnTo>
                    <a:pt x="3259469" y="1540132"/>
                  </a:lnTo>
                  <a:lnTo>
                    <a:pt x="3232715" y="1552251"/>
                  </a:lnTo>
                  <a:lnTo>
                    <a:pt x="3229432" y="1552574"/>
                  </a:lnTo>
                  <a:close/>
                </a:path>
              </a:pathLst>
            </a:custGeom>
            <a:solidFill>
              <a:srgbClr val="26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76700" y="2514600"/>
              <a:ext cx="3276600" cy="1552575"/>
            </a:xfrm>
            <a:custGeom>
              <a:avLst/>
              <a:gdLst/>
              <a:ahLst/>
              <a:cxnLst/>
              <a:rect l="l" t="t" r="r" b="b"/>
              <a:pathLst>
                <a:path w="3276600" h="1552575">
                  <a:moveTo>
                    <a:pt x="0" y="15020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3" y="34225"/>
                  </a:lnTo>
                  <a:lnTo>
                    <a:pt x="3842" y="31163"/>
                  </a:lnTo>
                  <a:lnTo>
                    <a:pt x="5111" y="28101"/>
                  </a:lnTo>
                  <a:lnTo>
                    <a:pt x="6666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6" y="14785"/>
                  </a:lnTo>
                  <a:lnTo>
                    <a:pt x="17129" y="12442"/>
                  </a:lnTo>
                  <a:lnTo>
                    <a:pt x="19679" y="10349"/>
                  </a:lnTo>
                  <a:lnTo>
                    <a:pt x="22435" y="8507"/>
                  </a:lnTo>
                  <a:lnTo>
                    <a:pt x="25191" y="6666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26117" y="0"/>
                  </a:lnTo>
                  <a:lnTo>
                    <a:pt x="3229432" y="0"/>
                  </a:lnTo>
                  <a:lnTo>
                    <a:pt x="3232715" y="323"/>
                  </a:lnTo>
                  <a:lnTo>
                    <a:pt x="3235965" y="970"/>
                  </a:lnTo>
                  <a:lnTo>
                    <a:pt x="3239217" y="1616"/>
                  </a:lnTo>
                  <a:lnTo>
                    <a:pt x="3268091" y="22435"/>
                  </a:lnTo>
                  <a:lnTo>
                    <a:pt x="3269933" y="25191"/>
                  </a:lnTo>
                  <a:lnTo>
                    <a:pt x="3271488" y="28101"/>
                  </a:lnTo>
                  <a:lnTo>
                    <a:pt x="3272756" y="31163"/>
                  </a:lnTo>
                  <a:lnTo>
                    <a:pt x="3274025" y="34225"/>
                  </a:lnTo>
                  <a:lnTo>
                    <a:pt x="3274982" y="37382"/>
                  </a:lnTo>
                  <a:lnTo>
                    <a:pt x="3275630" y="40633"/>
                  </a:lnTo>
                  <a:lnTo>
                    <a:pt x="3276277" y="43884"/>
                  </a:lnTo>
                  <a:lnTo>
                    <a:pt x="3276600" y="47167"/>
                  </a:lnTo>
                  <a:lnTo>
                    <a:pt x="3276600" y="50482"/>
                  </a:lnTo>
                  <a:lnTo>
                    <a:pt x="3276600" y="1502092"/>
                  </a:lnTo>
                  <a:lnTo>
                    <a:pt x="3276600" y="1505407"/>
                  </a:lnTo>
                  <a:lnTo>
                    <a:pt x="3276277" y="1508690"/>
                  </a:lnTo>
                  <a:lnTo>
                    <a:pt x="3268092" y="1530138"/>
                  </a:lnTo>
                  <a:lnTo>
                    <a:pt x="3266251" y="1532894"/>
                  </a:lnTo>
                  <a:lnTo>
                    <a:pt x="3254162" y="1544066"/>
                  </a:lnTo>
                  <a:lnTo>
                    <a:pt x="3251407" y="1545908"/>
                  </a:lnTo>
                  <a:lnTo>
                    <a:pt x="3248497" y="1547463"/>
                  </a:lnTo>
                  <a:lnTo>
                    <a:pt x="3245436" y="1548731"/>
                  </a:lnTo>
                  <a:lnTo>
                    <a:pt x="3242374" y="1550000"/>
                  </a:lnTo>
                  <a:lnTo>
                    <a:pt x="3239217" y="1550957"/>
                  </a:lnTo>
                  <a:lnTo>
                    <a:pt x="3235965" y="1551604"/>
                  </a:lnTo>
                  <a:lnTo>
                    <a:pt x="3232715" y="1552251"/>
                  </a:lnTo>
                  <a:lnTo>
                    <a:pt x="3229432" y="1552574"/>
                  </a:lnTo>
                  <a:lnTo>
                    <a:pt x="3226117" y="1552575"/>
                  </a:lnTo>
                  <a:lnTo>
                    <a:pt x="50482" y="1552575"/>
                  </a:lnTo>
                  <a:lnTo>
                    <a:pt x="47167" y="1552574"/>
                  </a:lnTo>
                  <a:lnTo>
                    <a:pt x="43884" y="1552251"/>
                  </a:lnTo>
                  <a:lnTo>
                    <a:pt x="40633" y="1551604"/>
                  </a:lnTo>
                  <a:lnTo>
                    <a:pt x="37382" y="1550958"/>
                  </a:lnTo>
                  <a:lnTo>
                    <a:pt x="6666" y="1527382"/>
                  </a:lnTo>
                  <a:lnTo>
                    <a:pt x="3842" y="1521411"/>
                  </a:lnTo>
                  <a:lnTo>
                    <a:pt x="2573" y="1518348"/>
                  </a:lnTo>
                  <a:lnTo>
                    <a:pt x="1616" y="1515191"/>
                  </a:lnTo>
                  <a:lnTo>
                    <a:pt x="969" y="1511940"/>
                  </a:lnTo>
                  <a:lnTo>
                    <a:pt x="323" y="1508690"/>
                  </a:lnTo>
                  <a:lnTo>
                    <a:pt x="0" y="1505407"/>
                  </a:lnTo>
                  <a:lnTo>
                    <a:pt x="0" y="1502092"/>
                  </a:lnTo>
                  <a:close/>
                </a:path>
              </a:pathLst>
            </a:custGeom>
            <a:ln w="19050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7534275" y="2505075"/>
            <a:ext cx="3295650" cy="1571625"/>
            <a:chOff x="7534275" y="2505075"/>
            <a:chExt cx="3295650" cy="1571625"/>
          </a:xfrm>
        </p:grpSpPr>
        <p:sp>
          <p:nvSpPr>
            <p:cNvPr id="10" name="object 10"/>
            <p:cNvSpPr/>
            <p:nvPr/>
          </p:nvSpPr>
          <p:spPr>
            <a:xfrm>
              <a:off x="7543800" y="2514600"/>
              <a:ext cx="3276600" cy="1552575"/>
            </a:xfrm>
            <a:custGeom>
              <a:avLst/>
              <a:gdLst/>
              <a:ahLst/>
              <a:cxnLst/>
              <a:rect l="l" t="t" r="r" b="b"/>
              <a:pathLst>
                <a:path w="3276600" h="1552575">
                  <a:moveTo>
                    <a:pt x="3229432" y="1552574"/>
                  </a:moveTo>
                  <a:lnTo>
                    <a:pt x="47167" y="1552574"/>
                  </a:lnTo>
                  <a:lnTo>
                    <a:pt x="43884" y="1552251"/>
                  </a:lnTo>
                  <a:lnTo>
                    <a:pt x="10347" y="1532894"/>
                  </a:lnTo>
                  <a:lnTo>
                    <a:pt x="0" y="1505407"/>
                  </a:lnTo>
                  <a:lnTo>
                    <a:pt x="0" y="1502092"/>
                  </a:lnTo>
                  <a:lnTo>
                    <a:pt x="0" y="47167"/>
                  </a:lnTo>
                  <a:lnTo>
                    <a:pt x="17129" y="12442"/>
                  </a:lnTo>
                  <a:lnTo>
                    <a:pt x="47167" y="0"/>
                  </a:lnTo>
                  <a:lnTo>
                    <a:pt x="3229432" y="0"/>
                  </a:lnTo>
                  <a:lnTo>
                    <a:pt x="3264156" y="17129"/>
                  </a:lnTo>
                  <a:lnTo>
                    <a:pt x="3276599" y="47167"/>
                  </a:lnTo>
                  <a:lnTo>
                    <a:pt x="3276599" y="1505407"/>
                  </a:lnTo>
                  <a:lnTo>
                    <a:pt x="3259471" y="1540132"/>
                  </a:lnTo>
                  <a:lnTo>
                    <a:pt x="3232714" y="1552251"/>
                  </a:lnTo>
                  <a:lnTo>
                    <a:pt x="3229432" y="1552574"/>
                  </a:lnTo>
                  <a:close/>
                </a:path>
              </a:pathLst>
            </a:custGeom>
            <a:solidFill>
              <a:srgbClr val="26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543800" y="2514600"/>
              <a:ext cx="3276600" cy="1552575"/>
            </a:xfrm>
            <a:custGeom>
              <a:avLst/>
              <a:gdLst/>
              <a:ahLst/>
              <a:cxnLst/>
              <a:rect l="l" t="t" r="r" b="b"/>
              <a:pathLst>
                <a:path w="3276600" h="1552575">
                  <a:moveTo>
                    <a:pt x="0" y="15020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3" y="34225"/>
                  </a:lnTo>
                  <a:lnTo>
                    <a:pt x="3842" y="31163"/>
                  </a:lnTo>
                  <a:lnTo>
                    <a:pt x="5110" y="28101"/>
                  </a:lnTo>
                  <a:lnTo>
                    <a:pt x="6665" y="25191"/>
                  </a:lnTo>
                  <a:lnTo>
                    <a:pt x="8506" y="22435"/>
                  </a:lnTo>
                  <a:lnTo>
                    <a:pt x="10347" y="19679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26117" y="0"/>
                  </a:lnTo>
                  <a:lnTo>
                    <a:pt x="3229432" y="0"/>
                  </a:lnTo>
                  <a:lnTo>
                    <a:pt x="3232714" y="323"/>
                  </a:lnTo>
                  <a:lnTo>
                    <a:pt x="3235965" y="970"/>
                  </a:lnTo>
                  <a:lnTo>
                    <a:pt x="3239216" y="1616"/>
                  </a:lnTo>
                  <a:lnTo>
                    <a:pt x="3254163" y="8507"/>
                  </a:lnTo>
                  <a:lnTo>
                    <a:pt x="3256921" y="10349"/>
                  </a:lnTo>
                  <a:lnTo>
                    <a:pt x="3259471" y="12442"/>
                  </a:lnTo>
                  <a:lnTo>
                    <a:pt x="3261813" y="14786"/>
                  </a:lnTo>
                  <a:lnTo>
                    <a:pt x="3264156" y="17129"/>
                  </a:lnTo>
                  <a:lnTo>
                    <a:pt x="3266249" y="19679"/>
                  </a:lnTo>
                  <a:lnTo>
                    <a:pt x="3268090" y="22435"/>
                  </a:lnTo>
                  <a:lnTo>
                    <a:pt x="3269932" y="25191"/>
                  </a:lnTo>
                  <a:lnTo>
                    <a:pt x="3271487" y="28101"/>
                  </a:lnTo>
                  <a:lnTo>
                    <a:pt x="3272755" y="31163"/>
                  </a:lnTo>
                  <a:lnTo>
                    <a:pt x="3274024" y="34225"/>
                  </a:lnTo>
                  <a:lnTo>
                    <a:pt x="3276600" y="50482"/>
                  </a:lnTo>
                  <a:lnTo>
                    <a:pt x="3276600" y="1502092"/>
                  </a:lnTo>
                  <a:lnTo>
                    <a:pt x="3276599" y="1505407"/>
                  </a:lnTo>
                  <a:lnTo>
                    <a:pt x="3276276" y="1508690"/>
                  </a:lnTo>
                  <a:lnTo>
                    <a:pt x="3275629" y="1511940"/>
                  </a:lnTo>
                  <a:lnTo>
                    <a:pt x="3274982" y="1515192"/>
                  </a:lnTo>
                  <a:lnTo>
                    <a:pt x="3274024" y="1518348"/>
                  </a:lnTo>
                  <a:lnTo>
                    <a:pt x="3272755" y="1521411"/>
                  </a:lnTo>
                  <a:lnTo>
                    <a:pt x="3271487" y="1524473"/>
                  </a:lnTo>
                  <a:lnTo>
                    <a:pt x="3261813" y="1537788"/>
                  </a:lnTo>
                  <a:lnTo>
                    <a:pt x="3259471" y="1540132"/>
                  </a:lnTo>
                  <a:lnTo>
                    <a:pt x="3256921" y="1542225"/>
                  </a:lnTo>
                  <a:lnTo>
                    <a:pt x="3254163" y="1544066"/>
                  </a:lnTo>
                  <a:lnTo>
                    <a:pt x="3251407" y="1545908"/>
                  </a:lnTo>
                  <a:lnTo>
                    <a:pt x="3248497" y="1547463"/>
                  </a:lnTo>
                  <a:lnTo>
                    <a:pt x="3245434" y="1548731"/>
                  </a:lnTo>
                  <a:lnTo>
                    <a:pt x="3242372" y="1550000"/>
                  </a:lnTo>
                  <a:lnTo>
                    <a:pt x="3239216" y="1550957"/>
                  </a:lnTo>
                  <a:lnTo>
                    <a:pt x="3235964" y="1551604"/>
                  </a:lnTo>
                  <a:lnTo>
                    <a:pt x="3232714" y="1552251"/>
                  </a:lnTo>
                  <a:lnTo>
                    <a:pt x="3229432" y="1552574"/>
                  </a:lnTo>
                  <a:lnTo>
                    <a:pt x="3226117" y="1552575"/>
                  </a:lnTo>
                  <a:lnTo>
                    <a:pt x="50482" y="1552575"/>
                  </a:lnTo>
                  <a:lnTo>
                    <a:pt x="47167" y="1552574"/>
                  </a:lnTo>
                  <a:lnTo>
                    <a:pt x="43884" y="1552251"/>
                  </a:lnTo>
                  <a:lnTo>
                    <a:pt x="40633" y="1551604"/>
                  </a:lnTo>
                  <a:lnTo>
                    <a:pt x="37381" y="1550958"/>
                  </a:lnTo>
                  <a:lnTo>
                    <a:pt x="8506" y="1530138"/>
                  </a:lnTo>
                  <a:lnTo>
                    <a:pt x="6665" y="1527382"/>
                  </a:lnTo>
                  <a:lnTo>
                    <a:pt x="5110" y="1524473"/>
                  </a:lnTo>
                  <a:lnTo>
                    <a:pt x="3842" y="1521411"/>
                  </a:lnTo>
                  <a:lnTo>
                    <a:pt x="2573" y="1518348"/>
                  </a:lnTo>
                  <a:lnTo>
                    <a:pt x="1616" y="1515191"/>
                  </a:lnTo>
                  <a:lnTo>
                    <a:pt x="969" y="1511940"/>
                  </a:lnTo>
                  <a:lnTo>
                    <a:pt x="323" y="1508690"/>
                  </a:lnTo>
                  <a:lnTo>
                    <a:pt x="0" y="1505407"/>
                  </a:lnTo>
                  <a:lnTo>
                    <a:pt x="0" y="1502092"/>
                  </a:lnTo>
                  <a:close/>
                </a:path>
              </a:pathLst>
            </a:custGeom>
            <a:ln w="19050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587375" y="1597025"/>
            <a:ext cx="60693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5"/>
              <a:t>Модель</a:t>
            </a:r>
            <a:r>
              <a:rPr dirty="0" spc="-335"/>
              <a:t> </a:t>
            </a:r>
            <a:r>
              <a:rPr dirty="0" spc="-160"/>
              <a:t>данных</a:t>
            </a:r>
            <a:r>
              <a:rPr dirty="0" spc="-335"/>
              <a:t> </a:t>
            </a:r>
            <a:r>
              <a:rPr dirty="0" spc="-130"/>
              <a:t>(PostgreSQL)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77875" y="2678112"/>
            <a:ext cx="264795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E4E0DE"/>
                </a:solidFill>
                <a:latin typeface="Tahoma"/>
                <a:cs typeface="Tahoma"/>
              </a:rPr>
              <a:t>jobs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id,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title,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company,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location,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salary,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description,</a:t>
            </a:r>
            <a:r>
              <a:rPr dirty="0" sz="1350" spc="18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created_at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44975" y="2678112"/>
            <a:ext cx="215265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E4E0DE"/>
                </a:solidFill>
                <a:latin typeface="Tahoma"/>
                <a:cs typeface="Tahoma"/>
              </a:rPr>
              <a:t>users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id,</a:t>
            </a:r>
            <a:r>
              <a:rPr dirty="0" sz="1350" spc="2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username</a:t>
            </a:r>
            <a:r>
              <a:rPr dirty="0" sz="1350" spc="2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(unique),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password_hash,</a:t>
            </a:r>
            <a:r>
              <a:rPr dirty="0" sz="1350" spc="2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created_at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12075" y="2678112"/>
            <a:ext cx="275082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E4E0DE"/>
                </a:solidFill>
                <a:latin typeface="Tahoma"/>
                <a:cs typeface="Tahoma"/>
              </a:rPr>
              <a:t>saved_jobs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id,</a:t>
            </a:r>
            <a:r>
              <a:rPr dirty="0" sz="1350" spc="-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user_id,</a:t>
            </a:r>
            <a:r>
              <a:rPr dirty="0" sz="1350" spc="-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title,</a:t>
            </a:r>
            <a:r>
              <a:rPr dirty="0" sz="1350" spc="-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company,</a:t>
            </a:r>
            <a:r>
              <a:rPr dirty="0" sz="1350" spc="-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location,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salary,</a:t>
            </a:r>
            <a:r>
              <a:rPr dirty="0" sz="1350" spc="7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description,</a:t>
            </a:r>
            <a:r>
              <a:rPr dirty="0" sz="1350" spc="7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source, external_id,</a:t>
            </a:r>
            <a:r>
              <a:rPr dirty="0" sz="1350" spc="-4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url,</a:t>
            </a:r>
            <a:r>
              <a:rPr dirty="0" sz="1350" spc="-4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timestamps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7375" y="4203065"/>
            <a:ext cx="998220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50">
                <a:solidFill>
                  <a:srgbClr val="E4E0DE"/>
                </a:solidFill>
                <a:latin typeface="Tahoma"/>
                <a:cs typeface="Tahoma"/>
              </a:rPr>
              <a:t>Связь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saved_jobs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E4E0DE"/>
                </a:solidFill>
                <a:latin typeface="Tahoma"/>
                <a:cs typeface="Tahoma"/>
              </a:rPr>
              <a:t>→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users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(многие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E4E0DE"/>
                </a:solidFill>
                <a:latin typeface="Tahoma"/>
                <a:cs typeface="Tahoma"/>
              </a:rPr>
              <a:t>→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один,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E4E0DE"/>
                </a:solidFill>
                <a:latin typeface="Tahoma"/>
                <a:cs typeface="Tahoma"/>
              </a:rPr>
              <a:t>ON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DELETE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E4E0DE"/>
                </a:solidFill>
                <a:latin typeface="Tahoma"/>
                <a:cs typeface="Tahoma"/>
              </a:rPr>
              <a:t>CASCADE).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E4E0DE"/>
                </a:solidFill>
                <a:latin typeface="Tahoma"/>
                <a:cs typeface="Tahoma"/>
              </a:rPr>
              <a:t>Индексы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по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title,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company,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location,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user_id.</a:t>
            </a:r>
            <a:r>
              <a:rPr dirty="0" sz="135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Уникальный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индекс</a:t>
            </a:r>
            <a:r>
              <a:rPr dirty="0" sz="1350" spc="5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(user_id,</a:t>
            </a:r>
            <a:r>
              <a:rPr dirty="0" sz="1350" spc="6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source,</a:t>
            </a:r>
            <a:r>
              <a:rPr dirty="0" sz="1350" spc="6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external_id)</a:t>
            </a:r>
            <a:r>
              <a:rPr dirty="0" sz="1350" spc="6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запрещает</a:t>
            </a:r>
            <a:r>
              <a:rPr dirty="0" sz="1350" spc="6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дубли.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2647302"/>
            <a:ext cx="714375" cy="9061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6225" y="2647302"/>
            <a:ext cx="714375" cy="9061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62850" y="2647302"/>
            <a:ext cx="714375" cy="90617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87375" y="1749425"/>
            <a:ext cx="77597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04"/>
              <a:t>Реал87о6анный</a:t>
            </a:r>
            <a:r>
              <a:rPr dirty="0" spc="-325"/>
              <a:t> </a:t>
            </a:r>
            <a:r>
              <a:rPr dirty="0" spc="-185"/>
              <a:t>функц8онал</a:t>
            </a:r>
            <a:r>
              <a:rPr dirty="0" spc="-320"/>
              <a:t> </a:t>
            </a:r>
            <a:r>
              <a:rPr dirty="0" spc="305"/>
              <a:t>—</a:t>
            </a:r>
            <a:r>
              <a:rPr dirty="0" spc="-325"/>
              <a:t> </a:t>
            </a:r>
            <a:r>
              <a:rPr dirty="0" spc="-105"/>
              <a:t>о57ор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20380" y="2630487"/>
            <a:ext cx="2236470" cy="19983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E4E0DE"/>
                </a:solidFill>
                <a:latin typeface="Tahoma"/>
                <a:cs typeface="Tahoma"/>
              </a:rPr>
              <a:t>Просмотр</a:t>
            </a:r>
            <a:r>
              <a:rPr dirty="0" sz="1650" spc="-150" b="1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E4E0DE"/>
                </a:solidFill>
                <a:latin typeface="Tahoma"/>
                <a:cs typeface="Tahoma"/>
              </a:rPr>
              <a:t>8</a:t>
            </a:r>
            <a:r>
              <a:rPr dirty="0" sz="1650" spc="-145" b="1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4E0DE"/>
                </a:solidFill>
                <a:latin typeface="Tahoma"/>
                <a:cs typeface="Tahoma"/>
              </a:rPr>
              <a:t>по8ск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555"/>
              </a:spcBef>
            </a:pPr>
            <a:r>
              <a:rPr dirty="0" sz="1350" spc="55">
                <a:solidFill>
                  <a:srgbClr val="E4E0DE"/>
                </a:solidFill>
                <a:latin typeface="Tahoma"/>
                <a:cs typeface="Tahoma"/>
              </a:rPr>
              <a:t>По8ск</a:t>
            </a:r>
            <a:r>
              <a:rPr dirty="0" sz="1350" spc="-4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по</a:t>
            </a:r>
            <a:r>
              <a:rPr dirty="0" sz="1350" spc="-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локальной</a:t>
            </a:r>
            <a:r>
              <a:rPr dirty="0" sz="1350" spc="-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5а7е</a:t>
            </a:r>
            <a:r>
              <a:rPr dirty="0" sz="1350" spc="-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5">
                <a:solidFill>
                  <a:srgbClr val="E4E0DE"/>
                </a:solidFill>
                <a:latin typeface="Tahoma"/>
                <a:cs typeface="Tahoma"/>
              </a:rPr>
              <a:t>8 </a:t>
            </a:r>
            <a:r>
              <a:rPr dirty="0" sz="1350" spc="60">
                <a:solidFill>
                  <a:srgbClr val="E4E0DE"/>
                </a:solidFill>
                <a:latin typeface="Tahoma"/>
                <a:cs typeface="Tahoma"/>
              </a:rPr>
              <a:t>росс8йскому</a:t>
            </a:r>
            <a:r>
              <a:rPr dirty="0" sz="1350" spc="-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катало7у</a:t>
            </a:r>
            <a:r>
              <a:rPr dirty="0" sz="1350" spc="-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E4E0DE"/>
                </a:solidFill>
                <a:latin typeface="Tahoma"/>
                <a:cs typeface="Tahoma"/>
              </a:rPr>
              <a:t>(40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6аканс8й),</a:t>
            </a:r>
            <a:r>
              <a:rPr dirty="0" sz="1350" spc="-3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ф8льтрац8я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 по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должност8,</a:t>
            </a:r>
            <a:r>
              <a:rPr dirty="0" sz="1350" spc="17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компан88</a:t>
            </a:r>
            <a:r>
              <a:rPr dirty="0" sz="1350" spc="17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5">
                <a:solidFill>
                  <a:srgbClr val="E4E0DE"/>
                </a:solidFill>
                <a:latin typeface="Tahoma"/>
                <a:cs typeface="Tahoma"/>
              </a:rPr>
              <a:t>8 </a:t>
            </a:r>
            <a:r>
              <a:rPr dirty="0" sz="1350" spc="-20">
                <a:solidFill>
                  <a:srgbClr val="E4E0DE"/>
                </a:solidFill>
                <a:latin typeface="Tahoma"/>
                <a:cs typeface="Tahoma"/>
              </a:rPr>
              <a:t>7ороду,</a:t>
            </a:r>
            <a:r>
              <a:rPr dirty="0" sz="1350" spc="-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до5а6лен8е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6аканс88</a:t>
            </a:r>
            <a:r>
              <a:rPr dirty="0" sz="135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чере7</a:t>
            </a:r>
            <a:r>
              <a:rPr dirty="0" sz="1350" spc="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форму.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1767" y="2630487"/>
            <a:ext cx="2324735" cy="1722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E4E0DE"/>
                </a:solidFill>
                <a:latin typeface="Tahoma"/>
                <a:cs typeface="Tahoma"/>
              </a:rPr>
              <a:t>А6тор87ац8я</a:t>
            </a:r>
            <a:endParaRPr sz="1650">
              <a:latin typeface="Tahoma"/>
              <a:cs typeface="Tahoma"/>
            </a:endParaRPr>
          </a:p>
          <a:p>
            <a:pPr marL="12700" marR="5080" indent="104775">
              <a:lnSpc>
                <a:spcPct val="133100"/>
              </a:lnSpc>
              <a:spcBef>
                <a:spcPts val="560"/>
              </a:spcBef>
            </a:pP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е78страц8я </a:t>
            </a:r>
            <a:r>
              <a:rPr dirty="0" sz="1350" spc="-30">
                <a:solidFill>
                  <a:srgbClr val="E4E0DE"/>
                </a:solidFill>
                <a:latin typeface="Tahoma"/>
                <a:cs typeface="Tahoma"/>
              </a:rPr>
              <a:t>(ло78н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≥3,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пароль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E4E0DE"/>
                </a:solidFill>
                <a:latin typeface="Tahoma"/>
                <a:cs typeface="Tahoma"/>
              </a:rPr>
              <a:t>≥4),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 6ход/6ыход,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хранен8е</a:t>
            </a:r>
            <a:r>
              <a:rPr dirty="0" sz="1350" spc="4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паролей</a:t>
            </a:r>
            <a:r>
              <a:rPr dirty="0" sz="1350" spc="4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6</a:t>
            </a:r>
            <a:r>
              <a:rPr dirty="0" sz="1350" spc="4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E4E0DE"/>
                </a:solidFill>
                <a:latin typeface="Tahoma"/>
                <a:cs typeface="Tahoma"/>
              </a:rPr>
              <a:t>68де </a:t>
            </a:r>
            <a:r>
              <a:rPr dirty="0" sz="1350" spc="120">
                <a:solidFill>
                  <a:srgbClr val="E4E0DE"/>
                </a:solidFill>
                <a:latin typeface="Tahoma"/>
                <a:cs typeface="Tahoma"/>
              </a:rPr>
              <a:t>хеLа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(scrypt),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токены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Bearer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для</a:t>
            </a:r>
            <a:r>
              <a:rPr dirty="0" sz="1350" spc="-3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E4E0DE"/>
                </a:solidFill>
                <a:latin typeface="Tahoma"/>
                <a:cs typeface="Tahoma"/>
              </a:rPr>
              <a:t>сесс8й.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83155" y="2630487"/>
            <a:ext cx="1995805" cy="1722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5" b="1">
                <a:solidFill>
                  <a:srgbClr val="E4E0DE"/>
                </a:solidFill>
                <a:latin typeface="Tahoma"/>
                <a:cs typeface="Tahoma"/>
              </a:rPr>
              <a:t>Л8чный</a:t>
            </a:r>
            <a:r>
              <a:rPr dirty="0" sz="1650" spc="-130" b="1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4E0DE"/>
                </a:solidFill>
                <a:latin typeface="Tahoma"/>
                <a:cs typeface="Tahoma"/>
              </a:rPr>
              <a:t>ка58нет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560"/>
              </a:spcBef>
            </a:pPr>
            <a:r>
              <a:rPr dirty="0" sz="1350" spc="10">
                <a:solidFill>
                  <a:srgbClr val="E4E0DE"/>
                </a:solidFill>
                <a:latin typeface="Tahoma"/>
                <a:cs typeface="Tahoma"/>
              </a:rPr>
              <a:t>Cохранен8е</a:t>
            </a:r>
            <a:r>
              <a:rPr dirty="0" sz="1350" spc="204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6аканс8й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(кнопка</a:t>
            </a:r>
            <a:r>
              <a:rPr dirty="0" sz="1350" spc="-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E4E0DE"/>
                </a:solidFill>
                <a:latin typeface="Tahoma"/>
                <a:cs typeface="Tahoma"/>
              </a:rPr>
              <a:t>«+»),</a:t>
            </a:r>
            <a:r>
              <a:rPr dirty="0" sz="1350" spc="-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7аM8та</a:t>
            </a:r>
            <a:r>
              <a:rPr dirty="0" sz="1350" spc="-6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от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ду5л8като6,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E4E0DE"/>
                </a:solidFill>
                <a:latin typeface="Tahoma"/>
                <a:cs typeface="Tahoma"/>
              </a:rPr>
              <a:t>просмотр</a:t>
            </a:r>
            <a:r>
              <a:rPr dirty="0" sz="1350" spc="-2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5">
                <a:solidFill>
                  <a:srgbClr val="E4E0DE"/>
                </a:solidFill>
                <a:latin typeface="Tahoma"/>
                <a:cs typeface="Tahoma"/>
              </a:rPr>
              <a:t>8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удален8е</a:t>
            </a:r>
            <a:r>
              <a:rPr dirty="0" sz="1350" spc="8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сохранённых 6аканс8й.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430000" cy="6438900"/>
            <a:chOff x="0" y="0"/>
            <a:chExt cx="11430000" cy="64389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7143750" cy="6438900"/>
            </a:xfrm>
            <a:custGeom>
              <a:avLst/>
              <a:gdLst/>
              <a:ahLst/>
              <a:cxnLst/>
              <a:rect l="l" t="t" r="r" b="b"/>
              <a:pathLst>
                <a:path w="7143750" h="6438900">
                  <a:moveTo>
                    <a:pt x="0" y="6438900"/>
                  </a:moveTo>
                  <a:lnTo>
                    <a:pt x="7143750" y="643890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26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143750" y="0"/>
              <a:ext cx="4286250" cy="6438900"/>
            </a:xfrm>
            <a:custGeom>
              <a:avLst/>
              <a:gdLst/>
              <a:ahLst/>
              <a:cxnLst/>
              <a:rect l="l" t="t" r="r" b="b"/>
              <a:pathLst>
                <a:path w="4286250" h="6438900">
                  <a:moveTo>
                    <a:pt x="4286250" y="6438900"/>
                  </a:moveTo>
                  <a:lnTo>
                    <a:pt x="0" y="6438900"/>
                  </a:lnTo>
                  <a:lnTo>
                    <a:pt x="0" y="0"/>
                  </a:lnTo>
                  <a:lnTo>
                    <a:pt x="4286250" y="0"/>
                  </a:lnTo>
                  <a:lnTo>
                    <a:pt x="4286250" y="6438900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81025" y="2314574"/>
              <a:ext cx="4143375" cy="3143250"/>
            </a:xfrm>
            <a:custGeom>
              <a:avLst/>
              <a:gdLst/>
              <a:ahLst/>
              <a:cxnLst/>
              <a:rect l="l" t="t" r="r" b="b"/>
              <a:pathLst>
                <a:path w="4143375" h="3143250">
                  <a:moveTo>
                    <a:pt x="38100" y="0"/>
                  </a:moveTo>
                  <a:lnTo>
                    <a:pt x="0" y="0"/>
                  </a:lnTo>
                  <a:lnTo>
                    <a:pt x="0" y="3143250"/>
                  </a:lnTo>
                  <a:lnTo>
                    <a:pt x="38100" y="3143250"/>
                  </a:lnTo>
                  <a:lnTo>
                    <a:pt x="38100" y="0"/>
                  </a:lnTo>
                  <a:close/>
                </a:path>
                <a:path w="4143375" h="3143250">
                  <a:moveTo>
                    <a:pt x="2095500" y="0"/>
                  </a:moveTo>
                  <a:lnTo>
                    <a:pt x="2057400" y="0"/>
                  </a:lnTo>
                  <a:lnTo>
                    <a:pt x="2057400" y="3143250"/>
                  </a:lnTo>
                  <a:lnTo>
                    <a:pt x="2095500" y="3143250"/>
                  </a:lnTo>
                  <a:lnTo>
                    <a:pt x="2095500" y="0"/>
                  </a:lnTo>
                  <a:close/>
                </a:path>
                <a:path w="4143375" h="3143250">
                  <a:moveTo>
                    <a:pt x="4143375" y="0"/>
                  </a:moveTo>
                  <a:lnTo>
                    <a:pt x="4105275" y="0"/>
                  </a:lnTo>
                  <a:lnTo>
                    <a:pt x="4105275" y="3143250"/>
                  </a:lnTo>
                  <a:lnTo>
                    <a:pt x="4143375" y="3143250"/>
                  </a:lnTo>
                  <a:lnTo>
                    <a:pt x="4143375" y="0"/>
                  </a:lnTo>
                  <a:close/>
                </a:path>
              </a:pathLst>
            </a:custGeom>
            <a:solidFill>
              <a:srgbClr val="2A0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9475" y="133349"/>
              <a:ext cx="4114800" cy="61722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95"/>
              <a:t>Безопасность</a:t>
            </a:r>
            <a:r>
              <a:rPr dirty="0" spc="-350"/>
              <a:t> </a:t>
            </a:r>
            <a:r>
              <a:rPr dirty="0" spc="-95"/>
              <a:t>и</a:t>
            </a:r>
            <a:r>
              <a:rPr dirty="0" spc="-340"/>
              <a:t> </a:t>
            </a:r>
            <a:r>
              <a:rPr dirty="0" spc="-110"/>
              <a:t>права </a:t>
            </a:r>
            <a:r>
              <a:rPr dirty="0" spc="-10"/>
              <a:t>доступа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6925" y="2316162"/>
            <a:ext cx="1576705" cy="171259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25780">
              <a:lnSpc>
                <a:spcPct val="106100"/>
              </a:lnSpc>
              <a:spcBef>
                <a:spcPts val="15"/>
              </a:spcBef>
            </a:pPr>
            <a:r>
              <a:rPr dirty="0" sz="1650" spc="-40" b="1">
                <a:solidFill>
                  <a:srgbClr val="E4E0DE"/>
                </a:solidFill>
                <a:latin typeface="Tahoma"/>
                <a:cs typeface="Tahoma"/>
              </a:rPr>
              <a:t>Хранение </a:t>
            </a:r>
            <a:r>
              <a:rPr dirty="0" sz="1650" spc="-10" b="1">
                <a:solidFill>
                  <a:srgbClr val="E4E0DE"/>
                </a:solidFill>
                <a:latin typeface="Tahoma"/>
                <a:cs typeface="Tahoma"/>
              </a:rPr>
              <a:t>паролей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Пароли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хешируются</a:t>
            </a:r>
            <a:r>
              <a:rPr dirty="0" sz="1350" spc="22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scrypt</a:t>
            </a:r>
            <a:endParaRPr sz="1350">
              <a:latin typeface="Tahoma"/>
              <a:cs typeface="Tahoma"/>
            </a:endParaRPr>
          </a:p>
          <a:p>
            <a:pPr marL="12700" marR="415290">
              <a:lnSpc>
                <a:spcPct val="134300"/>
              </a:lnSpc>
            </a:pPr>
            <a:r>
              <a:rPr dirty="0" sz="1350" spc="-100">
                <a:solidFill>
                  <a:srgbClr val="E4E0DE"/>
                </a:solidFill>
                <a:latin typeface="Tahoma"/>
                <a:cs typeface="Tahoma"/>
              </a:rPr>
              <a:t>+</a:t>
            </a:r>
            <a:r>
              <a:rPr dirty="0" sz="1350" spc="-9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E4E0DE"/>
                </a:solidFill>
                <a:latin typeface="Tahoma"/>
                <a:cs typeface="Tahoma"/>
              </a:rPr>
              <a:t>соль</a:t>
            </a:r>
            <a:r>
              <a:rPr dirty="0" sz="1350" spc="-9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перед сохранением.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49562" y="2316162"/>
            <a:ext cx="1588135" cy="308419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377825">
              <a:lnSpc>
                <a:spcPct val="106100"/>
              </a:lnSpc>
              <a:spcBef>
                <a:spcPts val="15"/>
              </a:spcBef>
            </a:pPr>
            <a:r>
              <a:rPr dirty="0" sz="1650" spc="-10" b="1">
                <a:solidFill>
                  <a:srgbClr val="E4E0DE"/>
                </a:solidFill>
                <a:latin typeface="Tahoma"/>
                <a:cs typeface="Tahoma"/>
              </a:rPr>
              <a:t>Защита </a:t>
            </a:r>
            <a:r>
              <a:rPr dirty="0" sz="1650" spc="-45" b="1">
                <a:solidFill>
                  <a:srgbClr val="E4E0DE"/>
                </a:solidFill>
                <a:latin typeface="Tahoma"/>
                <a:cs typeface="Tahoma"/>
              </a:rPr>
              <a:t>маршрутов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565"/>
              </a:spcBef>
            </a:pP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authMiddleware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отклоняет</a:t>
            </a:r>
            <a:r>
              <a:rPr dirty="0" sz="1350" spc="2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запросы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без</a:t>
            </a:r>
            <a:r>
              <a:rPr dirty="0" sz="1350" spc="1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валидного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токена</a:t>
            </a:r>
            <a:r>
              <a:rPr dirty="0" sz="1350" spc="-4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(401).</a:t>
            </a:r>
            <a:endParaRPr sz="1350">
              <a:latin typeface="Tahoma"/>
              <a:cs typeface="Tahoma"/>
            </a:endParaRPr>
          </a:p>
          <a:p>
            <a:pPr marL="12700" marR="133985">
              <a:lnSpc>
                <a:spcPct val="133100"/>
              </a:lnSpc>
              <a:spcBef>
                <a:spcPts val="20"/>
              </a:spcBef>
            </a:pP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Пользователь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управляет</a:t>
            </a:r>
            <a:r>
              <a:rPr dirty="0" sz="1350" spc="8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только </a:t>
            </a:r>
            <a:r>
              <a:rPr dirty="0" sz="1350" spc="45">
                <a:solidFill>
                  <a:srgbClr val="E4E0DE"/>
                </a:solidFill>
                <a:latin typeface="Tahoma"/>
                <a:cs typeface="Tahoma"/>
              </a:rPr>
              <a:t>своими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сохранёнными вакансиями.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2200" y="2316162"/>
            <a:ext cx="1554480" cy="144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E4E0DE"/>
                </a:solidFill>
                <a:latin typeface="Tahoma"/>
                <a:cs typeface="Tahoma"/>
              </a:rPr>
              <a:t>Секреты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565"/>
              </a:spcBef>
            </a:pP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Настройки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подключения</a:t>
            </a:r>
            <a:r>
              <a:rPr dirty="0" sz="1350" spc="2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E4E0DE"/>
                </a:solidFill>
                <a:latin typeface="Tahoma"/>
                <a:cs typeface="Tahoma"/>
              </a:rPr>
              <a:t>к</a:t>
            </a:r>
            <a:r>
              <a:rPr dirty="0" sz="1350" spc="2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E4E0DE"/>
                </a:solidFill>
                <a:latin typeface="Tahoma"/>
                <a:cs typeface="Tahoma"/>
              </a:rPr>
              <a:t>БД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в</a:t>
            </a:r>
            <a:r>
              <a:rPr dirty="0" sz="1350" spc="-5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.env</a:t>
            </a:r>
            <a:r>
              <a:rPr dirty="0" sz="1350" spc="-5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E4E0DE"/>
                </a:solidFill>
                <a:latin typeface="Tahoma"/>
                <a:cs typeface="Tahoma"/>
              </a:rPr>
              <a:t>—</a:t>
            </a:r>
            <a:r>
              <a:rPr dirty="0" sz="1350" spc="-5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E0DE"/>
                </a:solidFill>
                <a:latin typeface="Tahoma"/>
                <a:cs typeface="Tahoma"/>
              </a:rPr>
              <a:t>не</a:t>
            </a:r>
            <a:r>
              <a:rPr dirty="0" sz="1350" spc="-5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E4E0DE"/>
                </a:solidFill>
                <a:latin typeface="Tahoma"/>
                <a:cs typeface="Tahoma"/>
              </a:rPr>
              <a:t>в </a:t>
            </a:r>
            <a:r>
              <a:rPr dirty="0" sz="1350" spc="-10">
                <a:solidFill>
                  <a:srgbClr val="E4E0DE"/>
                </a:solidFill>
                <a:latin typeface="Tahoma"/>
                <a:cs typeface="Tahoma"/>
              </a:rPr>
              <a:t>репозитории.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464800" cy="6435725"/>
          </a:xfrm>
          <a:custGeom>
            <a:avLst/>
            <a:gdLst/>
            <a:ahLst/>
            <a:cxnLst/>
            <a:rect l="l" t="t" r="r" b="b"/>
            <a:pathLst>
              <a:path w="10464800" h="6435725">
                <a:moveTo>
                  <a:pt x="10464294" y="6435540"/>
                </a:moveTo>
                <a:lnTo>
                  <a:pt x="0" y="6435540"/>
                </a:lnTo>
                <a:lnTo>
                  <a:pt x="0" y="0"/>
                </a:lnTo>
                <a:lnTo>
                  <a:pt x="10464294" y="0"/>
                </a:lnTo>
                <a:lnTo>
                  <a:pt x="10464294" y="6435540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56" y="37758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9629" y="52321"/>
                </a:moveTo>
                <a:lnTo>
                  <a:pt x="22691" y="52321"/>
                </a:lnTo>
                <a:lnTo>
                  <a:pt x="19354" y="51657"/>
                </a:lnTo>
                <a:lnTo>
                  <a:pt x="0" y="29629"/>
                </a:lnTo>
                <a:lnTo>
                  <a:pt x="0" y="22691"/>
                </a:lnTo>
                <a:lnTo>
                  <a:pt x="22691" y="0"/>
                </a:lnTo>
                <a:lnTo>
                  <a:pt x="29629" y="0"/>
                </a:lnTo>
                <a:lnTo>
                  <a:pt x="52321" y="26160"/>
                </a:lnTo>
                <a:lnTo>
                  <a:pt x="52321" y="29629"/>
                </a:lnTo>
                <a:lnTo>
                  <a:pt x="29629" y="52321"/>
                </a:lnTo>
                <a:close/>
              </a:path>
            </a:pathLst>
          </a:custGeom>
          <a:solidFill>
            <a:srgbClr val="E4D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56" y="457812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9629" y="52321"/>
                </a:moveTo>
                <a:lnTo>
                  <a:pt x="22691" y="52321"/>
                </a:lnTo>
                <a:lnTo>
                  <a:pt x="19354" y="51656"/>
                </a:lnTo>
                <a:lnTo>
                  <a:pt x="0" y="29629"/>
                </a:lnTo>
                <a:lnTo>
                  <a:pt x="0" y="22690"/>
                </a:lnTo>
                <a:lnTo>
                  <a:pt x="22691" y="0"/>
                </a:lnTo>
                <a:lnTo>
                  <a:pt x="29629" y="0"/>
                </a:lnTo>
                <a:lnTo>
                  <a:pt x="52321" y="26160"/>
                </a:lnTo>
                <a:lnTo>
                  <a:pt x="52321" y="29629"/>
                </a:lnTo>
                <a:lnTo>
                  <a:pt x="29629" y="52321"/>
                </a:lnTo>
                <a:close/>
              </a:path>
            </a:pathLst>
          </a:custGeom>
          <a:solidFill>
            <a:srgbClr val="E4DFD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2712" y="1334197"/>
            <a:ext cx="4490926" cy="449092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36675" y="414592"/>
            <a:ext cx="6166485" cy="4965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050" spc="-135"/>
              <a:t>Выводы</a:t>
            </a:r>
            <a:r>
              <a:rPr dirty="0" sz="3050" spc="-300"/>
              <a:t> </a:t>
            </a:r>
            <a:r>
              <a:rPr dirty="0" sz="3050" spc="-85"/>
              <a:t>и</a:t>
            </a:r>
            <a:r>
              <a:rPr dirty="0" sz="3050" spc="-300"/>
              <a:t> </a:t>
            </a:r>
            <a:r>
              <a:rPr dirty="0" sz="3050" spc="-125"/>
              <a:t>дальнейшее</a:t>
            </a:r>
            <a:r>
              <a:rPr dirty="0" sz="3050" spc="-300"/>
              <a:t> </a:t>
            </a:r>
            <a:r>
              <a:rPr dirty="0" sz="3050" spc="-70"/>
              <a:t>развитие</a:t>
            </a:r>
            <a:endParaRPr sz="3050"/>
          </a:p>
        </p:txBody>
      </p:sp>
      <p:sp>
        <p:nvSpPr>
          <p:cNvPr id="7" name="object 7"/>
          <p:cNvSpPr txBox="1"/>
          <p:nvPr/>
        </p:nvSpPr>
        <p:spPr>
          <a:xfrm>
            <a:off x="536675" y="2460361"/>
            <a:ext cx="4502785" cy="2232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90"/>
              </a:spcBef>
            </a:pPr>
            <a:r>
              <a:rPr dirty="0" sz="1200" spc="50">
                <a:solidFill>
                  <a:srgbClr val="E4E0DE"/>
                </a:solidFill>
                <a:latin typeface="Tahoma"/>
                <a:cs typeface="Tahoma"/>
              </a:rPr>
              <a:t>ChifBoard</a:t>
            </a:r>
            <a:r>
              <a:rPr dirty="0" sz="1200" spc="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140">
                <a:solidFill>
                  <a:srgbClr val="E4E0DE"/>
                </a:solidFill>
                <a:latin typeface="Tahoma"/>
                <a:cs typeface="Tahoma"/>
              </a:rPr>
              <a:t>—</a:t>
            </a:r>
            <a:r>
              <a:rPr dirty="0" sz="1200" spc="4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E4E0DE"/>
                </a:solidFill>
                <a:latin typeface="Tahoma"/>
                <a:cs typeface="Tahoma"/>
              </a:rPr>
              <a:t>полнофункциональное</a:t>
            </a:r>
            <a:r>
              <a:rPr dirty="0" sz="1200" spc="4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E4E0DE"/>
                </a:solidFill>
                <a:latin typeface="Tahoma"/>
                <a:cs typeface="Tahoma"/>
              </a:rPr>
              <a:t>приложение</a:t>
            </a:r>
            <a:r>
              <a:rPr dirty="0" sz="1200" spc="4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E4E0DE"/>
                </a:solidFill>
                <a:latin typeface="Tahoma"/>
                <a:cs typeface="Tahoma"/>
              </a:rPr>
              <a:t>для</a:t>
            </a:r>
            <a:r>
              <a:rPr dirty="0" sz="1200" spc="4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E4E0DE"/>
                </a:solidFill>
                <a:latin typeface="Tahoma"/>
                <a:cs typeface="Tahoma"/>
              </a:rPr>
              <a:t>поиска </a:t>
            </a:r>
            <a:r>
              <a:rPr dirty="0" sz="1200" spc="50">
                <a:solidFill>
                  <a:srgbClr val="E4E0DE"/>
                </a:solidFill>
                <a:latin typeface="Tahoma"/>
                <a:cs typeface="Tahoma"/>
              </a:rPr>
              <a:t>и</a:t>
            </a:r>
            <a:r>
              <a:rPr dirty="0" sz="1200" spc="-1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E4E0DE"/>
                </a:solidFill>
                <a:latin typeface="Tahoma"/>
                <a:cs typeface="Tahoma"/>
              </a:rPr>
              <a:t>управления</a:t>
            </a:r>
            <a:r>
              <a:rPr dirty="0" sz="1200" spc="-1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E4E0DE"/>
                </a:solidFill>
                <a:latin typeface="Tahoma"/>
                <a:cs typeface="Tahoma"/>
              </a:rPr>
              <a:t>вакансиями,</a:t>
            </a:r>
            <a:r>
              <a:rPr dirty="0" sz="1200" spc="-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E4E0DE"/>
                </a:solidFill>
                <a:latin typeface="Tahoma"/>
                <a:cs typeface="Tahoma"/>
              </a:rPr>
              <a:t>готовое</a:t>
            </a:r>
            <a:r>
              <a:rPr dirty="0" sz="1200" spc="-1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65">
                <a:solidFill>
                  <a:srgbClr val="E4E0DE"/>
                </a:solidFill>
                <a:latin typeface="Tahoma"/>
                <a:cs typeface="Tahoma"/>
              </a:rPr>
              <a:t>к</a:t>
            </a:r>
            <a:r>
              <a:rPr dirty="0" sz="1200" spc="-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E4E0DE"/>
                </a:solidFill>
                <a:latin typeface="Tahoma"/>
                <a:cs typeface="Tahoma"/>
              </a:rPr>
              <a:t>демонстрации</a:t>
            </a:r>
            <a:r>
              <a:rPr dirty="0" sz="1200" spc="-1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E4E0DE"/>
                </a:solidFill>
                <a:latin typeface="Tahoma"/>
                <a:cs typeface="Tahoma"/>
              </a:rPr>
              <a:t>на </a:t>
            </a:r>
            <a:r>
              <a:rPr dirty="0" sz="1200" spc="10">
                <a:solidFill>
                  <a:srgbClr val="E4E0DE"/>
                </a:solidFill>
                <a:latin typeface="Tahoma"/>
                <a:cs typeface="Tahoma"/>
              </a:rPr>
              <a:t>защите.</a:t>
            </a:r>
            <a:r>
              <a:rPr dirty="0" sz="1200" spc="3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E4E0DE"/>
                </a:solidFill>
                <a:latin typeface="Tahoma"/>
                <a:cs typeface="Tahoma"/>
              </a:rPr>
              <a:t>Реализованы</a:t>
            </a:r>
            <a:r>
              <a:rPr dirty="0" sz="1200" spc="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E0DE"/>
                </a:solidFill>
                <a:latin typeface="Tahoma"/>
                <a:cs typeface="Tahoma"/>
              </a:rPr>
              <a:t>авторизация,</a:t>
            </a:r>
            <a:r>
              <a:rPr dirty="0" sz="1200" spc="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E0DE"/>
                </a:solidFill>
                <a:latin typeface="Tahoma"/>
                <a:cs typeface="Tahoma"/>
              </a:rPr>
              <a:t>личный</a:t>
            </a:r>
            <a:r>
              <a:rPr dirty="0" sz="1200" spc="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E0DE"/>
                </a:solidFill>
                <a:latin typeface="Tahoma"/>
                <a:cs typeface="Tahoma"/>
              </a:rPr>
              <a:t>кабинет,</a:t>
            </a:r>
            <a:r>
              <a:rPr dirty="0" sz="1200" spc="3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E4E0DE"/>
                </a:solidFill>
                <a:latin typeface="Tahoma"/>
                <a:cs typeface="Tahoma"/>
              </a:rPr>
              <a:t>поиск </a:t>
            </a:r>
            <a:r>
              <a:rPr dirty="0" sz="1200" spc="55">
                <a:solidFill>
                  <a:srgbClr val="E4E0DE"/>
                </a:solidFill>
                <a:latin typeface="Tahoma"/>
                <a:cs typeface="Tahoma"/>
              </a:rPr>
              <a:t>по</a:t>
            </a:r>
            <a:r>
              <a:rPr dirty="0" sz="120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E4E0DE"/>
                </a:solidFill>
                <a:latin typeface="Tahoma"/>
                <a:cs typeface="Tahoma"/>
              </a:rPr>
              <a:t>базе</a:t>
            </a:r>
            <a:r>
              <a:rPr dirty="0" sz="120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E4E0DE"/>
                </a:solidFill>
                <a:latin typeface="Tahoma"/>
                <a:cs typeface="Tahoma"/>
              </a:rPr>
              <a:t>и</a:t>
            </a:r>
            <a:r>
              <a:rPr dirty="0" sz="120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80">
                <a:solidFill>
                  <a:srgbClr val="E4E0DE"/>
                </a:solidFill>
                <a:latin typeface="Tahoma"/>
                <a:cs typeface="Tahoma"/>
              </a:rPr>
              <a:t>российскому</a:t>
            </a: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 каталогу,</a:t>
            </a:r>
            <a:r>
              <a:rPr dirty="0" sz="120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защита</a:t>
            </a:r>
            <a:r>
              <a:rPr dirty="0" sz="120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от </a:t>
            </a:r>
            <a:r>
              <a:rPr dirty="0" sz="1200" spc="-10">
                <a:solidFill>
                  <a:srgbClr val="E4E0DE"/>
                </a:solidFill>
                <a:latin typeface="Tahoma"/>
                <a:cs typeface="Tahoma"/>
              </a:rPr>
              <a:t>дубликатов.</a:t>
            </a:r>
            <a:endParaRPr sz="1200">
              <a:latin typeface="Tahoma"/>
              <a:cs typeface="Tahoma"/>
            </a:endParaRPr>
          </a:p>
          <a:p>
            <a:pPr marL="263525" marR="416559">
              <a:lnSpc>
                <a:spcPct val="135900"/>
              </a:lnSpc>
              <a:spcBef>
                <a:spcPts val="1135"/>
              </a:spcBef>
            </a:pPr>
            <a:r>
              <a:rPr dirty="0" sz="1200" spc="55">
                <a:solidFill>
                  <a:srgbClr val="E4E0DE"/>
                </a:solidFill>
                <a:latin typeface="Tahoma"/>
                <a:cs typeface="Tahoma"/>
              </a:rPr>
              <a:t>Дальнейшее</a:t>
            </a:r>
            <a:r>
              <a:rPr dirty="0" sz="1200" spc="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E0DE"/>
                </a:solidFill>
                <a:latin typeface="Tahoma"/>
                <a:cs typeface="Tahoma"/>
              </a:rPr>
              <a:t>развитие: интеграция </a:t>
            </a:r>
            <a:r>
              <a:rPr dirty="0" sz="1200" spc="150">
                <a:solidFill>
                  <a:srgbClr val="E4E0DE"/>
                </a:solidFill>
                <a:latin typeface="Tahoma"/>
                <a:cs typeface="Tahoma"/>
              </a:rPr>
              <a:t>с</a:t>
            </a:r>
            <a:r>
              <a:rPr dirty="0" sz="1200" spc="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E4E0DE"/>
                </a:solidFill>
                <a:latin typeface="Tahoma"/>
                <a:cs typeface="Tahoma"/>
              </a:rPr>
              <a:t>реальным</a:t>
            </a:r>
            <a:r>
              <a:rPr dirty="0" sz="1200" spc="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E4E0DE"/>
                </a:solidFill>
                <a:latin typeface="Tahoma"/>
                <a:cs typeface="Tahoma"/>
              </a:rPr>
              <a:t>API </a:t>
            </a:r>
            <a:r>
              <a:rPr dirty="0" sz="1200" spc="-10">
                <a:solidFill>
                  <a:srgbClr val="E4E0DE"/>
                </a:solidFill>
                <a:latin typeface="Tahoma"/>
                <a:cs typeface="Tahoma"/>
              </a:rPr>
              <a:t>(hh.ru),</a:t>
            </a:r>
            <a:r>
              <a:rPr dirty="0" sz="1200" spc="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фильтры</a:t>
            </a:r>
            <a:r>
              <a:rPr dirty="0" sz="1200" spc="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E4E0DE"/>
                </a:solidFill>
                <a:latin typeface="Tahoma"/>
                <a:cs typeface="Tahoma"/>
              </a:rPr>
              <a:t>по</a:t>
            </a:r>
            <a:r>
              <a:rPr dirty="0" sz="1200" spc="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зарплате</a:t>
            </a:r>
            <a:r>
              <a:rPr dirty="0" sz="1200" spc="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E4E0DE"/>
                </a:solidFill>
                <a:latin typeface="Tahoma"/>
                <a:cs typeface="Tahoma"/>
              </a:rPr>
              <a:t>и</a:t>
            </a:r>
            <a:r>
              <a:rPr dirty="0" sz="1200" spc="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E4E0DE"/>
                </a:solidFill>
                <a:latin typeface="Tahoma"/>
                <a:cs typeface="Tahoma"/>
              </a:rPr>
              <a:t>городу,</a:t>
            </a:r>
            <a:r>
              <a:rPr dirty="0" sz="1200" spc="3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30">
                <a:solidFill>
                  <a:srgbClr val="E4E0DE"/>
                </a:solidFill>
                <a:latin typeface="Tahoma"/>
                <a:cs typeface="Tahoma"/>
              </a:rPr>
              <a:t>роли </a:t>
            </a:r>
            <a:r>
              <a:rPr dirty="0" sz="1200" spc="-10">
                <a:solidFill>
                  <a:srgbClr val="E4E0DE"/>
                </a:solidFill>
                <a:latin typeface="Tahoma"/>
                <a:cs typeface="Tahoma"/>
              </a:rPr>
              <a:t>работодателя/соискателя.</a:t>
            </a:r>
            <a:endParaRPr sz="1200">
              <a:latin typeface="Tahoma"/>
              <a:cs typeface="Tahoma"/>
            </a:endParaRPr>
          </a:p>
          <a:p>
            <a:pPr marL="263525">
              <a:lnSpc>
                <a:spcPct val="100000"/>
              </a:lnSpc>
              <a:spcBef>
                <a:spcPts val="960"/>
              </a:spcBef>
            </a:pPr>
            <a:r>
              <a:rPr dirty="0" sz="1200" spc="20">
                <a:solidFill>
                  <a:srgbClr val="E4E0DE"/>
                </a:solidFill>
                <a:latin typeface="Tahoma"/>
                <a:cs typeface="Tahoma"/>
              </a:rPr>
              <a:t>Развёртывание:</a:t>
            </a:r>
            <a:r>
              <a:rPr dirty="0" sz="1200" spc="-1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E4E0DE"/>
                </a:solidFill>
                <a:latin typeface="Tahoma"/>
                <a:cs typeface="Tahoma"/>
              </a:rPr>
              <a:t>любой</a:t>
            </a:r>
            <a:r>
              <a:rPr dirty="0" sz="120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E4E0DE"/>
                </a:solidFill>
                <a:latin typeface="Tahoma"/>
                <a:cs typeface="Tahoma"/>
              </a:rPr>
              <a:t>сервер</a:t>
            </a:r>
            <a:r>
              <a:rPr dirty="0" sz="120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150">
                <a:solidFill>
                  <a:srgbClr val="E4E0DE"/>
                </a:solidFill>
                <a:latin typeface="Tahoma"/>
                <a:cs typeface="Tahoma"/>
              </a:rPr>
              <a:t>с</a:t>
            </a:r>
            <a:r>
              <a:rPr dirty="0" sz="120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E4E0DE"/>
                </a:solidFill>
                <a:latin typeface="Tahoma"/>
                <a:cs typeface="Tahoma"/>
              </a:rPr>
              <a:t>Node.js</a:t>
            </a:r>
            <a:r>
              <a:rPr dirty="0" sz="120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E4E0DE"/>
                </a:solidFill>
                <a:latin typeface="Tahoma"/>
                <a:cs typeface="Tahoma"/>
              </a:rPr>
              <a:t>и</a:t>
            </a:r>
            <a:r>
              <a:rPr dirty="0" sz="1200" spc="-5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dirty="0" sz="1200" spc="35">
                <a:solidFill>
                  <a:srgbClr val="E4E0DE"/>
                </a:solidFill>
                <a:latin typeface="Tahoma"/>
                <a:cs typeface="Tahoma"/>
              </a:rPr>
              <a:t>PostgreSQL.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2026-06-18T22:07:24Z</dcterms:created>
  <dcterms:modified xsi:type="dcterms:W3CDTF">2026-06-18T22:07:24Z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2026-06-18T00:00:00Z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2026-06-18T00:00:00Z</vt:filetime>
  </property>
  <property fmtid="{D5CDD505-2E9C-101B-9397-08002B2CF9AE}" pid="6" name="Producer">
    <vt:lpwstr>pdf-lib (https://github.com/Hopding/pdf-lib)</vt:lpwstr>
  </property>
</Properties>
</file>